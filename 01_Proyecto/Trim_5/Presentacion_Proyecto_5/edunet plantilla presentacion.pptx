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Staatliches"/>
      <p:regular r:id="rId19"/>
    </p:embeddedFont>
    <p:embeddedFont>
      <p:font typeface="Work Sans Medium"/>
      <p:regular r:id="rId20"/>
      <p:bold r:id="rId21"/>
      <p:italic r:id="rId22"/>
      <p:boldItalic r:id="rId23"/>
    </p:embeddedFont>
    <p:embeddedFont>
      <p:font typeface="Work Sans"/>
      <p:regular r:id="rId24"/>
      <p:bold r:id="rId25"/>
      <p:italic r:id="rId26"/>
      <p:boldItalic r:id="rId27"/>
    </p:embeddedFont>
    <p:embeddedFont>
      <p:font typeface="Work Sans Light"/>
      <p:regular r:id="rId28"/>
      <p:bold r:id="rId29"/>
      <p:italic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NRX3pllmhmP991caCsV8yhILk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Medium-regular.fntdata"/><Relationship Id="rId22" Type="http://schemas.openxmlformats.org/officeDocument/2006/relationships/font" Target="fonts/WorkSansMedium-italic.fntdata"/><Relationship Id="rId21" Type="http://schemas.openxmlformats.org/officeDocument/2006/relationships/font" Target="fonts/WorkSansMedium-bold.fntdata"/><Relationship Id="rId24" Type="http://schemas.openxmlformats.org/officeDocument/2006/relationships/font" Target="fonts/WorkSans-regular.fntdata"/><Relationship Id="rId23" Type="http://schemas.openxmlformats.org/officeDocument/2006/relationships/font" Target="fonts/WorkSansMedium-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WorkSans-italic.fntdata"/><Relationship Id="rId25" Type="http://schemas.openxmlformats.org/officeDocument/2006/relationships/font" Target="fonts/WorkSans-bold.fntdata"/><Relationship Id="rId28" Type="http://schemas.openxmlformats.org/officeDocument/2006/relationships/font" Target="fonts/WorkSansLight-regular.fntdata"/><Relationship Id="rId27" Type="http://schemas.openxmlformats.org/officeDocument/2006/relationships/font" Target="fonts/WorkSans-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Light-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WorkSansLight-boldItalic.fntdata"/><Relationship Id="rId30" Type="http://schemas.openxmlformats.org/officeDocument/2006/relationships/font" Target="fonts/WorkSansLight-italic.fntdata"/><Relationship Id="rId11" Type="http://schemas.openxmlformats.org/officeDocument/2006/relationships/slide" Target="slides/slide7.xml"/><Relationship Id="rId33" Type="http://schemas.openxmlformats.org/officeDocument/2006/relationships/font" Target="fonts/OpenSans-bold.fntdata"/><Relationship Id="rId10" Type="http://schemas.openxmlformats.org/officeDocument/2006/relationships/slide" Target="slides/slide6.xml"/><Relationship Id="rId32" Type="http://schemas.openxmlformats.org/officeDocument/2006/relationships/font" Target="fonts/OpenSans-regular.fntdata"/><Relationship Id="rId13" Type="http://schemas.openxmlformats.org/officeDocument/2006/relationships/slide" Target="slides/slide9.xml"/><Relationship Id="rId35" Type="http://schemas.openxmlformats.org/officeDocument/2006/relationships/font" Target="fonts/OpenSans-boldItalic.fntdata"/><Relationship Id="rId12" Type="http://schemas.openxmlformats.org/officeDocument/2006/relationships/slide" Target="slides/slide8.xml"/><Relationship Id="rId34" Type="http://schemas.openxmlformats.org/officeDocument/2006/relationships/font" Target="fonts/OpenSans-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Staatliches-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25f035ecc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725f035ecc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g3725f035ecc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725f035ec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g3725f035ec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3bb039bc9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363bb039bc9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3bb039bc9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363bb039bc9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25f035ecc_1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725f035ecc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618704700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6618704700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6618704700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MX"/>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3bb039bc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63bb039bc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MX"/>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p17"/>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p17"/>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0" name="Shape 20"/>
        <p:cNvGrpSpPr/>
        <p:nvPr/>
      </p:nvGrpSpPr>
      <p:grpSpPr>
        <a:xfrm>
          <a:off x="0" y="0"/>
          <a:ext cx="0" cy="0"/>
          <a:chOff x="0" y="0"/>
          <a:chExt cx="0" cy="0"/>
        </a:xfrm>
      </p:grpSpPr>
      <p:sp>
        <p:nvSpPr>
          <p:cNvPr id="21" name="Google Shape;2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9" name="Shape 29"/>
        <p:cNvGrpSpPr/>
        <p:nvPr/>
      </p:nvGrpSpPr>
      <p:grpSpPr>
        <a:xfrm>
          <a:off x="0" y="0"/>
          <a:ext cx="0" cy="0"/>
          <a:chOff x="0" y="0"/>
          <a:chExt cx="0" cy="0"/>
        </a:xfrm>
      </p:grpSpPr>
      <p:sp>
        <p:nvSpPr>
          <p:cNvPr id="30" name="Google Shape;30;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5" name="Shape 35"/>
        <p:cNvGrpSpPr/>
        <p:nvPr/>
      </p:nvGrpSpPr>
      <p:grpSpPr>
        <a:xfrm>
          <a:off x="0" y="0"/>
          <a:ext cx="0" cy="0"/>
          <a:chOff x="0" y="0"/>
          <a:chExt cx="0" cy="0"/>
        </a:xfrm>
      </p:grpSpPr>
      <p:sp>
        <p:nvSpPr>
          <p:cNvPr id="36" name="Google Shape;3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1" name="Shape 41"/>
        <p:cNvGrpSpPr/>
        <p:nvPr/>
      </p:nvGrpSpPr>
      <p:grpSpPr>
        <a:xfrm>
          <a:off x="0" y="0"/>
          <a:ext cx="0" cy="0"/>
          <a:chOff x="0" y="0"/>
          <a:chExt cx="0" cy="0"/>
        </a:xfrm>
      </p:grpSpPr>
      <p:sp>
        <p:nvSpPr>
          <p:cNvPr id="42" name="Google Shape;42;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7" name="Shape 47"/>
        <p:cNvGrpSpPr/>
        <p:nvPr/>
      </p:nvGrpSpPr>
      <p:grpSpPr>
        <a:xfrm>
          <a:off x="0" y="0"/>
          <a:ext cx="0" cy="0"/>
          <a:chOff x="0" y="0"/>
          <a:chExt cx="0" cy="0"/>
        </a:xfrm>
      </p:grpSpPr>
      <p:sp>
        <p:nvSpPr>
          <p:cNvPr id="48" name="Google Shape;4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3" name="Shape 63"/>
        <p:cNvGrpSpPr/>
        <p:nvPr/>
      </p:nvGrpSpPr>
      <p:grpSpPr>
        <a:xfrm>
          <a:off x="0" y="0"/>
          <a:ext cx="0" cy="0"/>
          <a:chOff x="0" y="0"/>
          <a:chExt cx="0" cy="0"/>
        </a:xfrm>
      </p:grpSpPr>
      <p:sp>
        <p:nvSpPr>
          <p:cNvPr id="64" name="Google Shape;6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8" name="Shape 68"/>
        <p:cNvGrpSpPr/>
        <p:nvPr/>
      </p:nvGrpSpPr>
      <p:grpSpPr>
        <a:xfrm>
          <a:off x="0" y="0"/>
          <a:ext cx="0" cy="0"/>
          <a:chOff x="0" y="0"/>
          <a:chExt cx="0" cy="0"/>
        </a:xfrm>
      </p:grpSpPr>
      <p:sp>
        <p:nvSpPr>
          <p:cNvPr id="69" name="Google Shape;69;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2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5" name="Shape 75"/>
        <p:cNvGrpSpPr/>
        <p:nvPr/>
      </p:nvGrpSpPr>
      <p:grpSpPr>
        <a:xfrm>
          <a:off x="0" y="0"/>
          <a:ext cx="0" cy="0"/>
          <a:chOff x="0" y="0"/>
          <a:chExt cx="0" cy="0"/>
        </a:xfrm>
      </p:grpSpPr>
      <p:sp>
        <p:nvSpPr>
          <p:cNvPr id="76" name="Google Shape;76;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p:nvPr>
            <p:ph idx="2" type="pic"/>
          </p:nvPr>
        </p:nvSpPr>
        <p:spPr>
          <a:xfrm>
            <a:off x="5183188" y="987425"/>
            <a:ext cx="6172200" cy="4873625"/>
          </a:xfrm>
          <a:prstGeom prst="rect">
            <a:avLst/>
          </a:prstGeom>
          <a:noFill/>
          <a:ln>
            <a:noFill/>
          </a:ln>
        </p:spPr>
      </p:sp>
      <p:sp>
        <p:nvSpPr>
          <p:cNvPr id="78" name="Google Shape;78;p2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2" name="Shape 82"/>
        <p:cNvGrpSpPr/>
        <p:nvPr/>
      </p:nvGrpSpPr>
      <p:grpSpPr>
        <a:xfrm>
          <a:off x="0" y="0"/>
          <a:ext cx="0" cy="0"/>
          <a:chOff x="0" y="0"/>
          <a:chExt cx="0" cy="0"/>
        </a:xfrm>
      </p:grpSpPr>
      <p:sp>
        <p:nvSpPr>
          <p:cNvPr id="83" name="Google Shape;8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8" name="Shape 88"/>
        <p:cNvGrpSpPr/>
        <p:nvPr/>
      </p:nvGrpSpPr>
      <p:grpSpPr>
        <a:xfrm>
          <a:off x="0" y="0"/>
          <a:ext cx="0" cy="0"/>
          <a:chOff x="0" y="0"/>
          <a:chExt cx="0" cy="0"/>
        </a:xfrm>
      </p:grpSpPr>
      <p:sp>
        <p:nvSpPr>
          <p:cNvPr id="89" name="Google Shape;89;p3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rive.google.com/drive/folders/16sR3uS2vgBizZ_PA9xFDAAzXCSqJ474b?usp=drive_link" TargetMode="External"/><Relationship Id="rId4" Type="http://schemas.openxmlformats.org/officeDocument/2006/relationships/hyperlink" Target="https://drive.google.com/drive/folders/16sR3uS2vgBizZ_PA9xFDAAzXCSqJ474b?usp=drive_lin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5.jpg"/><Relationship Id="rId5"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express.js" TargetMode="Externa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docs.google.com/spreadsheets/d/1yuc7gDzpsLGw8tWHDQtd0W87BiDcOyRq/edit?gid=629310722#gid=629310722" TargetMode="Externa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0" Type="http://schemas.openxmlformats.org/officeDocument/2006/relationships/hyperlink" Target="https://drive.google.com/file/d/1N2-kK-v_LwGKeFMlEkOaIuoSklo0POfK/view?usp=drive_link" TargetMode="External"/><Relationship Id="rId22" Type="http://schemas.openxmlformats.org/officeDocument/2006/relationships/hyperlink" Target="https://github.com/Symoon32/Edunet" TargetMode="External"/><Relationship Id="rId21" Type="http://schemas.openxmlformats.org/officeDocument/2006/relationships/hyperlink" Target="https://drive.google.com/drive/folders/1O1zc1z0RL2sU8PmgBbKSX_MieR3XPYR_?usp=drive_link" TargetMode="External"/><Relationship Id="rId24" Type="http://schemas.openxmlformats.org/officeDocument/2006/relationships/image" Target="../media/image15.jpg"/><Relationship Id="rId23" Type="http://schemas.openxmlformats.org/officeDocument/2006/relationships/hyperlink" Target="https://github.com/Symoon32/Edunet" TargetMode="External"/><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docs.google.com/document/d/1QYoRw8dfLk96tt8I3gblE_eHBVlJEeU4/edit" TargetMode="External"/><Relationship Id="rId4" Type="http://schemas.openxmlformats.org/officeDocument/2006/relationships/hyperlink" Target="https://drive.google.com/file/d/1aEIFG7KgMnAYOFyuK6VACYSch812QHh2/view?usp=drive_link" TargetMode="External"/><Relationship Id="rId9" Type="http://schemas.openxmlformats.org/officeDocument/2006/relationships/hyperlink" Target="https://drive.google.com/drive/folders/16j-vL7zUADurT_XJAuGfjTx2L5UE0Gj7?usp=drive_link" TargetMode="External"/><Relationship Id="rId25" Type="http://schemas.openxmlformats.org/officeDocument/2006/relationships/image" Target="../media/image9.jpg"/><Relationship Id="rId5" Type="http://schemas.openxmlformats.org/officeDocument/2006/relationships/hyperlink" Target="https://drive.google.com/drive/u/0/folders/1MPlhbKz89SQHGB9Y7TdpOp7B5ryR6nf1" TargetMode="External"/><Relationship Id="rId6" Type="http://schemas.openxmlformats.org/officeDocument/2006/relationships/hyperlink" Target="https://docs.google.com/document/d/1xkbZQPb5D4weVv2ElYa0vGEEl2mFULuz/edit" TargetMode="External"/><Relationship Id="rId7" Type="http://schemas.openxmlformats.org/officeDocument/2006/relationships/hyperlink" Target="https://drive.google.com/file/d/1Fbb-j3pBnLn1eklkBNb6q-scAw8lU3Ka/view?usp=drive_link" TargetMode="External"/><Relationship Id="rId8" Type="http://schemas.openxmlformats.org/officeDocument/2006/relationships/hyperlink" Target="https://drive.google.com/drive/folders/1MwbBcIeoB0wdKvb-vTF58QPWyQtyFVSn?usp=drive_link" TargetMode="External"/><Relationship Id="rId11" Type="http://schemas.openxmlformats.org/officeDocument/2006/relationships/hyperlink" Target="https://drive.google.com/drive/folders/1JKgZ2TJGw6FYGEmiSBumkW6bKBDumWMz?usp=drive_link" TargetMode="External"/><Relationship Id="rId10" Type="http://schemas.openxmlformats.org/officeDocument/2006/relationships/hyperlink" Target="https://github.com/Symoon32/Edunet" TargetMode="External"/><Relationship Id="rId13" Type="http://schemas.openxmlformats.org/officeDocument/2006/relationships/hyperlink" Target="https://drive.google.com/file/d/12pGNspMDMu9wYykHWORStPhnTOaSTQMP/view?usp=drive_link" TargetMode="External"/><Relationship Id="rId12" Type="http://schemas.openxmlformats.org/officeDocument/2006/relationships/hyperlink" Target="https://docs.google.com/spreadsheets/d/1A7W97nwAK5TKH9jWzjUHH-W9qDpT-OvE/edit?usp=drive_link&amp;ouid=110333303440855436515&amp;rtpof=true&amp;sd=true" TargetMode="External"/><Relationship Id="rId15" Type="http://schemas.openxmlformats.org/officeDocument/2006/relationships/hyperlink" Target="https://drive.google.com/file/d/1Eu-pg2OqiZUebOKHL8wIP3lK7cgw-Azs/view?usp=drive_link" TargetMode="External"/><Relationship Id="rId14" Type="http://schemas.openxmlformats.org/officeDocument/2006/relationships/hyperlink" Target="https://drive.google.com/file/d/1zjT-PsXDjIfuxBbly5X2lhrD9u2tb82Y/view?usp=drive_link" TargetMode="External"/><Relationship Id="rId17" Type="http://schemas.openxmlformats.org/officeDocument/2006/relationships/hyperlink" Target="https://github.com/Symoon32/Edunet" TargetMode="External"/><Relationship Id="rId16" Type="http://schemas.openxmlformats.org/officeDocument/2006/relationships/hyperlink" Target="https://github.com/Symoon32/Edunet" TargetMode="External"/><Relationship Id="rId19" Type="http://schemas.openxmlformats.org/officeDocument/2006/relationships/hyperlink" Target="https://drive.google.com/file/d/1r1ZzsnUpaC39Y87zZ_IZWTwnb9Lzyis1/view?usp=drive_link" TargetMode="External"/><Relationship Id="rId18" Type="http://schemas.openxmlformats.org/officeDocument/2006/relationships/hyperlink" Target="https://drive.google.com/file/d/1r1ZzsnUpaC39Y87zZ_IZWTwnb9Lzyis1/view?usp=drive_lin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a:hlinkClick r:id="rId3"/>
          </p:cNvPr>
          <p:cNvSpPr txBox="1"/>
          <p:nvPr/>
        </p:nvSpPr>
        <p:spPr>
          <a:xfrm>
            <a:off x="995422" y="2551837"/>
            <a:ext cx="9063000" cy="23082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s-MX" sz="4800" u="none" cap="none" strike="noStrike">
                <a:solidFill>
                  <a:srgbClr val="3F3F3F"/>
                </a:solidFill>
                <a:latin typeface="Work Sans"/>
                <a:ea typeface="Work Sans"/>
                <a:cs typeface="Work Sans"/>
                <a:sym typeface="Work Sans"/>
              </a:rPr>
              <a:t>EduNet</a:t>
            </a:r>
            <a:endParaRPr b="1" i="0" sz="4800" u="none" cap="none" strike="noStrike">
              <a:solidFill>
                <a:srgbClr val="3F3F3F"/>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5400"/>
              <a:buFont typeface="Arial"/>
              <a:buNone/>
            </a:pPr>
            <a:r>
              <a:rPr b="1" i="0" lang="es-MX" sz="4800" u="none" cap="none" strike="noStrike">
                <a:solidFill>
                  <a:srgbClr val="3F3F3F"/>
                </a:solidFill>
                <a:latin typeface="Work Sans"/>
                <a:ea typeface="Work Sans"/>
                <a:cs typeface="Work Sans"/>
                <a:sym typeface="Work Sans"/>
              </a:rPr>
              <a:t>Para el colegio Jorge Isaacs  de Soacha</a:t>
            </a:r>
            <a:endParaRPr b="1" i="0" sz="4800" u="none" cap="none" strike="noStrike">
              <a:solidFill>
                <a:srgbClr val="3F3F3F"/>
              </a:solidFill>
              <a:latin typeface="Work Sans"/>
              <a:ea typeface="Work Sans"/>
              <a:cs typeface="Work Sans"/>
              <a:sym typeface="Work Sans"/>
            </a:endParaRPr>
          </a:p>
        </p:txBody>
      </p:sp>
      <p:sp>
        <p:nvSpPr>
          <p:cNvPr id="100" name="Google Shape;100;p1">
            <a:hlinkClick r:id="rId4"/>
          </p:cNvPr>
          <p:cNvSpPr txBox="1"/>
          <p:nvPr/>
        </p:nvSpPr>
        <p:spPr>
          <a:xfrm>
            <a:off x="7610788" y="4540525"/>
            <a:ext cx="3362012" cy="15696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MX" sz="1600" u="none" cap="none" strike="noStrike">
                <a:solidFill>
                  <a:srgbClr val="000000"/>
                </a:solidFill>
                <a:latin typeface="Staatliches"/>
                <a:ea typeface="Staatliches"/>
                <a:cs typeface="Staatliches"/>
                <a:sym typeface="Staatliches"/>
              </a:rPr>
              <a:t>Daniel Castillo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MX" sz="1600" u="none" cap="none" strike="noStrike">
                <a:solidFill>
                  <a:srgbClr val="000000"/>
                </a:solidFill>
                <a:latin typeface="Staatliches"/>
                <a:ea typeface="Staatliches"/>
                <a:cs typeface="Staatliches"/>
                <a:sym typeface="Staatliches"/>
              </a:rPr>
              <a:t> Sara Ruiz Lopez</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MX" sz="1600" u="none" cap="none" strike="noStrike">
                <a:solidFill>
                  <a:srgbClr val="000000"/>
                </a:solidFill>
                <a:latin typeface="Staatliches"/>
                <a:ea typeface="Staatliches"/>
                <a:cs typeface="Staatliches"/>
                <a:sym typeface="Staatliches"/>
              </a:rPr>
              <a:t>Simón Vargas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MX" sz="1600" u="none" cap="none" strike="noStrike">
                <a:solidFill>
                  <a:srgbClr val="000000"/>
                </a:solidFill>
                <a:latin typeface="Staatliches"/>
                <a:ea typeface="Staatliches"/>
                <a:cs typeface="Staatliches"/>
                <a:sym typeface="Staatliches"/>
              </a:rPr>
              <a:t>Yojan Florez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br>
              <a:rPr b="0" i="0" lang="es-MX" sz="1600" u="none" cap="none" strike="noStrike">
                <a:solidFill>
                  <a:srgbClr val="000000"/>
                </a:solidFill>
                <a:latin typeface="Arial"/>
                <a:ea typeface="Arial"/>
                <a:cs typeface="Arial"/>
                <a:sym typeface="Arial"/>
              </a:rPr>
            </a:br>
            <a:endParaRPr b="1" i="0" sz="1600" u="none" cap="none" strike="noStrike">
              <a:solidFill>
                <a:srgbClr val="3F3F3F"/>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05" name="Shape 105"/>
        <p:cNvGrpSpPr/>
        <p:nvPr/>
      </p:nvGrpSpPr>
      <p:grpSpPr>
        <a:xfrm>
          <a:off x="0" y="0"/>
          <a:ext cx="0" cy="0"/>
          <a:chOff x="0" y="0"/>
          <a:chExt cx="0" cy="0"/>
        </a:xfrm>
      </p:grpSpPr>
      <p:pic>
        <p:nvPicPr>
          <p:cNvPr id="106" name="Google Shape;106;g3725f035ecc_1_8"/>
          <p:cNvPicPr preferRelativeResize="0"/>
          <p:nvPr/>
        </p:nvPicPr>
        <p:blipFill rotWithShape="1">
          <a:blip r:embed="rId3">
            <a:alphaModFix/>
          </a:blip>
          <a:srcRect b="0" l="0" r="0" t="0"/>
          <a:stretch/>
        </p:blipFill>
        <p:spPr>
          <a:xfrm>
            <a:off x="10998150" y="218150"/>
            <a:ext cx="780150" cy="756875"/>
          </a:xfrm>
          <a:prstGeom prst="rect">
            <a:avLst/>
          </a:prstGeom>
          <a:noFill/>
          <a:ln>
            <a:noFill/>
          </a:ln>
        </p:spPr>
      </p:pic>
      <p:sp>
        <p:nvSpPr>
          <p:cNvPr id="107" name="Google Shape;107;g3725f035ecc_1_8"/>
          <p:cNvSpPr txBox="1"/>
          <p:nvPr/>
        </p:nvSpPr>
        <p:spPr>
          <a:xfrm>
            <a:off x="639974" y="538151"/>
            <a:ext cx="44268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chemeClr val="lt1"/>
                </a:solidFill>
                <a:latin typeface="Work Sans Light"/>
                <a:ea typeface="Work Sans Light"/>
                <a:cs typeface="Work Sans Light"/>
                <a:sym typeface="Work Sans Light"/>
              </a:rPr>
              <a:t>EduNet</a:t>
            </a:r>
            <a:endParaRPr b="0" i="0" sz="4400" u="none" cap="none" strike="noStrike">
              <a:solidFill>
                <a:schemeClr val="lt1"/>
              </a:solidFill>
              <a:latin typeface="Work Sans Light"/>
              <a:ea typeface="Work Sans Light"/>
              <a:cs typeface="Work Sans Light"/>
              <a:sym typeface="Work Sans Light"/>
            </a:endParaRPr>
          </a:p>
        </p:txBody>
      </p:sp>
      <p:sp>
        <p:nvSpPr>
          <p:cNvPr id="108" name="Google Shape;108;g3725f035ecc_1_8"/>
          <p:cNvSpPr txBox="1"/>
          <p:nvPr/>
        </p:nvSpPr>
        <p:spPr>
          <a:xfrm>
            <a:off x="6549450" y="1869400"/>
            <a:ext cx="53919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3900" u="none" cap="none" strike="noStrike">
                <a:solidFill>
                  <a:schemeClr val="lt1"/>
                </a:solidFill>
                <a:latin typeface="Work Sans Light"/>
                <a:ea typeface="Work Sans Light"/>
                <a:cs typeface="Work Sans Light"/>
                <a:sym typeface="Work Sans Light"/>
              </a:rPr>
              <a:t>Problemas</a:t>
            </a:r>
            <a:endParaRPr b="0" i="0" sz="3900" u="none" cap="none" strike="noStrike">
              <a:solidFill>
                <a:schemeClr val="lt1"/>
              </a:solidFill>
              <a:latin typeface="Work Sans Light"/>
              <a:ea typeface="Work Sans Light"/>
              <a:cs typeface="Work Sans Light"/>
              <a:sym typeface="Work Sans Light"/>
            </a:endParaRPr>
          </a:p>
          <a:p>
            <a:pPr indent="0" lvl="0" marL="0" marR="0" rtl="0" algn="l">
              <a:lnSpc>
                <a:spcPct val="90000"/>
              </a:lnSpc>
              <a:spcBef>
                <a:spcPts val="0"/>
              </a:spcBef>
              <a:spcAft>
                <a:spcPts val="0"/>
              </a:spcAft>
              <a:buClr>
                <a:srgbClr val="38AA00"/>
              </a:buClr>
              <a:buSzPts val="4400"/>
              <a:buFont typeface="Work Sans Light"/>
              <a:buNone/>
            </a:pPr>
            <a:r>
              <a:rPr b="0" i="0" lang="es-MX" sz="3900" u="none" cap="none" strike="noStrike">
                <a:solidFill>
                  <a:schemeClr val="lt1"/>
                </a:solidFill>
                <a:latin typeface="Work Sans Light"/>
                <a:ea typeface="Work Sans Light"/>
                <a:cs typeface="Work Sans Light"/>
                <a:sym typeface="Work Sans Light"/>
              </a:rPr>
              <a:t>Objetivos</a:t>
            </a:r>
            <a:endParaRPr b="0" i="0" sz="3900" u="none" cap="none" strike="noStrike">
              <a:solidFill>
                <a:schemeClr val="lt1"/>
              </a:solidFill>
              <a:latin typeface="Work Sans Light"/>
              <a:ea typeface="Work Sans Light"/>
              <a:cs typeface="Work Sans Light"/>
              <a:sym typeface="Work Sans Light"/>
            </a:endParaRPr>
          </a:p>
          <a:p>
            <a:pPr indent="0" lvl="0" marL="0" marR="0" rtl="0" algn="l">
              <a:lnSpc>
                <a:spcPct val="90000"/>
              </a:lnSpc>
              <a:spcBef>
                <a:spcPts val="0"/>
              </a:spcBef>
              <a:spcAft>
                <a:spcPts val="0"/>
              </a:spcAft>
              <a:buClr>
                <a:srgbClr val="38AA00"/>
              </a:buClr>
              <a:buSzPts val="4400"/>
              <a:buFont typeface="Work Sans Light"/>
              <a:buNone/>
            </a:pPr>
            <a:r>
              <a:rPr b="0" i="0" lang="es-MX" sz="3900" u="none" cap="none" strike="noStrike">
                <a:solidFill>
                  <a:schemeClr val="lt1"/>
                </a:solidFill>
                <a:latin typeface="Work Sans Light"/>
                <a:ea typeface="Work Sans Light"/>
                <a:cs typeface="Work Sans Light"/>
                <a:sym typeface="Work Sans Light"/>
              </a:rPr>
              <a:t>Justificación</a:t>
            </a:r>
            <a:endParaRPr b="0" i="0" sz="3900" u="none" cap="none" strike="noStrike">
              <a:solidFill>
                <a:schemeClr val="lt1"/>
              </a:solidFill>
              <a:latin typeface="Work Sans Light"/>
              <a:ea typeface="Work Sans Light"/>
              <a:cs typeface="Work Sans Light"/>
              <a:sym typeface="Work Sans Light"/>
            </a:endParaRPr>
          </a:p>
          <a:p>
            <a:pPr indent="0" lvl="0" marL="0" marR="0" rtl="0" algn="l">
              <a:lnSpc>
                <a:spcPct val="90000"/>
              </a:lnSpc>
              <a:spcBef>
                <a:spcPts val="0"/>
              </a:spcBef>
              <a:spcAft>
                <a:spcPts val="0"/>
              </a:spcAft>
              <a:buClr>
                <a:srgbClr val="38AA00"/>
              </a:buClr>
              <a:buSzPts val="4400"/>
              <a:buFont typeface="Work Sans Light"/>
              <a:buNone/>
            </a:pPr>
            <a:r>
              <a:rPr b="0" i="0" lang="es-MX" sz="3900" u="none" cap="none" strike="noStrike">
                <a:solidFill>
                  <a:schemeClr val="lt1"/>
                </a:solidFill>
                <a:latin typeface="Work Sans Light"/>
                <a:ea typeface="Work Sans Light"/>
                <a:cs typeface="Work Sans Light"/>
                <a:sym typeface="Work Sans Light"/>
              </a:rPr>
              <a:t>Alcance</a:t>
            </a:r>
            <a:endParaRPr b="0" i="0" sz="3900" u="none" cap="none" strike="noStrike">
              <a:solidFill>
                <a:schemeClr val="lt1"/>
              </a:solidFill>
              <a:latin typeface="Work Sans Light"/>
              <a:ea typeface="Work Sans Light"/>
              <a:cs typeface="Work Sans Light"/>
              <a:sym typeface="Work Sans Light"/>
            </a:endParaRPr>
          </a:p>
          <a:p>
            <a:pPr indent="0" lvl="0" marL="0" marR="0" rtl="0" algn="l">
              <a:lnSpc>
                <a:spcPct val="90000"/>
              </a:lnSpc>
              <a:spcBef>
                <a:spcPts val="0"/>
              </a:spcBef>
              <a:spcAft>
                <a:spcPts val="0"/>
              </a:spcAft>
              <a:buClr>
                <a:srgbClr val="38AA00"/>
              </a:buClr>
              <a:buSzPts val="4400"/>
              <a:buFont typeface="Work Sans Light"/>
              <a:buNone/>
            </a:pPr>
            <a:r>
              <a:rPr b="0" i="0" lang="es-MX" sz="3900" u="none" cap="none" strike="noStrike">
                <a:solidFill>
                  <a:schemeClr val="lt1"/>
                </a:solidFill>
                <a:latin typeface="Work Sans Light"/>
                <a:ea typeface="Work Sans Light"/>
                <a:cs typeface="Work Sans Light"/>
                <a:sym typeface="Work Sans Light"/>
              </a:rPr>
              <a:t>Delimitación</a:t>
            </a:r>
            <a:endParaRPr b="0" i="0" sz="3900" u="none" cap="none" strike="noStrike">
              <a:solidFill>
                <a:schemeClr val="lt1"/>
              </a:solidFill>
              <a:latin typeface="Work Sans Light"/>
              <a:ea typeface="Work Sans Light"/>
              <a:cs typeface="Work Sans Light"/>
              <a:sym typeface="Work Sans Light"/>
            </a:endParaRPr>
          </a:p>
          <a:p>
            <a:pPr indent="0" lvl="0" marL="0" marR="0" rtl="0" algn="l">
              <a:lnSpc>
                <a:spcPct val="90000"/>
              </a:lnSpc>
              <a:spcBef>
                <a:spcPts val="0"/>
              </a:spcBef>
              <a:spcAft>
                <a:spcPts val="0"/>
              </a:spcAft>
              <a:buClr>
                <a:srgbClr val="38AA00"/>
              </a:buClr>
              <a:buSzPts val="4400"/>
              <a:buFont typeface="Work Sans Light"/>
              <a:buNone/>
            </a:pPr>
            <a:r>
              <a:rPr b="0" i="0" lang="es-MX" sz="3900" u="none" cap="none" strike="noStrike">
                <a:solidFill>
                  <a:schemeClr val="lt1"/>
                </a:solidFill>
                <a:latin typeface="Work Sans Light"/>
                <a:ea typeface="Work Sans Light"/>
                <a:cs typeface="Work Sans Light"/>
                <a:sym typeface="Work Sans Light"/>
              </a:rPr>
              <a:t>Entregables Trimestre</a:t>
            </a:r>
            <a:endParaRPr b="0" i="0" sz="3900" u="none" cap="none" strike="noStrike">
              <a:solidFill>
                <a:schemeClr val="lt1"/>
              </a:solidFill>
              <a:latin typeface="Work Sans Light"/>
              <a:ea typeface="Work Sans Light"/>
              <a:cs typeface="Work Sans Light"/>
              <a:sym typeface="Work Sans Light"/>
            </a:endParaRPr>
          </a:p>
        </p:txBody>
      </p:sp>
      <p:pic>
        <p:nvPicPr>
          <p:cNvPr id="109" name="Google Shape;109;g3725f035ecc_1_8"/>
          <p:cNvPicPr preferRelativeResize="0"/>
          <p:nvPr/>
        </p:nvPicPr>
        <p:blipFill>
          <a:blip r:embed="rId4">
            <a:alphaModFix/>
          </a:blip>
          <a:stretch>
            <a:fillRect/>
          </a:stretch>
        </p:blipFill>
        <p:spPr>
          <a:xfrm>
            <a:off x="3634740" y="2457400"/>
            <a:ext cx="1883860" cy="2269700"/>
          </a:xfrm>
          <a:prstGeom prst="rect">
            <a:avLst/>
          </a:prstGeom>
          <a:noFill/>
          <a:ln>
            <a:noFill/>
          </a:ln>
        </p:spPr>
      </p:pic>
      <p:pic>
        <p:nvPicPr>
          <p:cNvPr id="110" name="Google Shape;110;g3725f035ecc_1_8"/>
          <p:cNvPicPr preferRelativeResize="0"/>
          <p:nvPr/>
        </p:nvPicPr>
        <p:blipFill>
          <a:blip r:embed="rId5">
            <a:alphaModFix/>
          </a:blip>
          <a:stretch>
            <a:fillRect/>
          </a:stretch>
        </p:blipFill>
        <p:spPr>
          <a:xfrm>
            <a:off x="1288850" y="2457400"/>
            <a:ext cx="2269701" cy="22697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g3725f035ecc_1_0"/>
          <p:cNvSpPr/>
          <p:nvPr/>
        </p:nvSpPr>
        <p:spPr>
          <a:xfrm>
            <a:off x="1145896" y="1235566"/>
            <a:ext cx="2940000" cy="3471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 name="Google Shape;116;g3725f035ecc_1_0"/>
          <p:cNvSpPr txBox="1"/>
          <p:nvPr/>
        </p:nvSpPr>
        <p:spPr>
          <a:xfrm>
            <a:off x="708199" y="906300"/>
            <a:ext cx="44268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Introducción</a:t>
            </a:r>
            <a:endParaRPr b="0" i="0" sz="4400" u="none" cap="none" strike="noStrike">
              <a:solidFill>
                <a:srgbClr val="38AA00"/>
              </a:solidFill>
              <a:latin typeface="Work Sans Light"/>
              <a:ea typeface="Work Sans Light"/>
              <a:cs typeface="Work Sans Light"/>
              <a:sym typeface="Work Sans Light"/>
            </a:endParaRPr>
          </a:p>
        </p:txBody>
      </p:sp>
      <p:sp>
        <p:nvSpPr>
          <p:cNvPr id="117" name="Google Shape;117;g3725f035ecc_1_0"/>
          <p:cNvSpPr txBox="1"/>
          <p:nvPr/>
        </p:nvSpPr>
        <p:spPr>
          <a:xfrm>
            <a:off x="797738" y="2080278"/>
            <a:ext cx="4426800" cy="304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Edunet es una plataforma web educativa desarrollada para optimizar la gestión del colegio Jorge Isaacs de Soacha. Surge como respuesta a las necesidades actuales en el ámbito escolar, ofreciendo una solución tecnológica integral.</a:t>
            </a:r>
            <a:endParaRPr b="0" i="0" sz="1600" u="none" cap="none" strike="noStrike">
              <a:solidFill>
                <a:schemeClr val="dk1"/>
              </a:solidFill>
              <a:latin typeface="Work Sans Light"/>
              <a:ea typeface="Work Sans Light"/>
              <a:cs typeface="Work Sans Light"/>
              <a:sym typeface="Work Sans Ligh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Work Sans Light"/>
              <a:ea typeface="Work Sans Light"/>
              <a:cs typeface="Work Sans Light"/>
              <a:sym typeface="Work Sans Light"/>
            </a:endParaRPr>
          </a:p>
          <a:p>
            <a:pPr indent="0" lvl="0" marL="0" marR="0" rtl="0" algn="l">
              <a:lnSpc>
                <a:spcPct val="100000"/>
              </a:lnSpc>
              <a:spcBef>
                <a:spcPts val="0"/>
              </a:spcBef>
              <a:spcAft>
                <a:spcPts val="0"/>
              </a:spcAft>
              <a:buClr>
                <a:srgbClr val="000000"/>
              </a:buClr>
              <a:buSzPts val="1600"/>
              <a:buFont typeface="Arial"/>
              <a:buNone/>
            </a:pPr>
            <a:r>
              <a:rPr b="0" i="0" lang="es-MX" sz="1600" u="none" cap="none" strike="noStrike">
                <a:solidFill>
                  <a:schemeClr val="dk1"/>
                </a:solidFill>
                <a:latin typeface="Work Sans Light"/>
                <a:ea typeface="Work Sans Light"/>
                <a:cs typeface="Work Sans Light"/>
                <a:sym typeface="Work Sans Light"/>
              </a:rPr>
              <a:t>Esta presentación expone el desarrollo del proyecto Edunet, abordando los principales aspectos relacionados con su implementación en el colegio Jorge Isaacs de Soacha</a:t>
            </a:r>
            <a:endParaRPr b="0" i="0" sz="1400" u="none" cap="none" strike="noStrike">
              <a:solidFill>
                <a:srgbClr val="000000"/>
              </a:solidFill>
              <a:latin typeface="Arial"/>
              <a:ea typeface="Arial"/>
              <a:cs typeface="Arial"/>
              <a:sym typeface="Arial"/>
            </a:endParaRPr>
          </a:p>
        </p:txBody>
      </p:sp>
      <p:pic>
        <p:nvPicPr>
          <p:cNvPr id="118" name="Google Shape;118;g3725f035ecc_1_0"/>
          <p:cNvPicPr preferRelativeResize="0"/>
          <p:nvPr/>
        </p:nvPicPr>
        <p:blipFill rotWithShape="1">
          <a:blip r:embed="rId4">
            <a:alphaModFix/>
          </a:blip>
          <a:srcRect b="0" l="0" r="0" t="0"/>
          <a:stretch/>
        </p:blipFill>
        <p:spPr>
          <a:xfrm>
            <a:off x="5724250" y="26900"/>
            <a:ext cx="4825675" cy="680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2"/>
          <p:cNvSpPr/>
          <p:nvPr/>
        </p:nvSpPr>
        <p:spPr>
          <a:xfrm>
            <a:off x="1145896" y="1235566"/>
            <a:ext cx="2939970" cy="34724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 name="Google Shape;124;p2"/>
          <p:cNvSpPr txBox="1"/>
          <p:nvPr/>
        </p:nvSpPr>
        <p:spPr>
          <a:xfrm>
            <a:off x="708199" y="906300"/>
            <a:ext cx="44268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4400"/>
              <a:buFont typeface="Work Sans Light"/>
              <a:buNone/>
            </a:pPr>
            <a:r>
              <a:rPr b="0" i="0" lang="es-MX" sz="4400" u="none" cap="none" strike="noStrike">
                <a:solidFill>
                  <a:srgbClr val="38AA00"/>
                </a:solidFill>
                <a:latin typeface="Work Sans Light"/>
                <a:ea typeface="Work Sans Light"/>
                <a:cs typeface="Work Sans Light"/>
                <a:sym typeface="Work Sans Light"/>
              </a:rPr>
              <a:t>Problemática</a:t>
            </a:r>
            <a:endParaRPr b="0" i="0" sz="4400" u="none" cap="none" strike="noStrike">
              <a:solidFill>
                <a:srgbClr val="38AA00"/>
              </a:solidFill>
              <a:latin typeface="Work Sans Light"/>
              <a:ea typeface="Work Sans Light"/>
              <a:cs typeface="Work Sans Light"/>
              <a:sym typeface="Work Sans Light"/>
            </a:endParaRPr>
          </a:p>
        </p:txBody>
      </p:sp>
      <p:sp>
        <p:nvSpPr>
          <p:cNvPr id="125" name="Google Shape;125;p2"/>
          <p:cNvSpPr txBox="1"/>
          <p:nvPr/>
        </p:nvSpPr>
        <p:spPr>
          <a:xfrm>
            <a:off x="848828" y="1788250"/>
            <a:ext cx="5589000" cy="5353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s-MX" sz="1200">
                <a:solidFill>
                  <a:schemeClr val="dk1"/>
                </a:solidFill>
                <a:latin typeface="Work Sans Light"/>
                <a:ea typeface="Work Sans Light"/>
                <a:cs typeface="Work Sans Light"/>
                <a:sym typeface="Work Sans Light"/>
              </a:rPr>
              <a:t>En el Colegio Jorge Isaacs, ubicado en el municipio de Soacha, Cundinamarca, se identifican dos procesos principales que requieren atención: la gestión administrativa y la gestión académica.</a:t>
            </a:r>
            <a:endParaRPr sz="1200">
              <a:solidFill>
                <a:schemeClr val="dk1"/>
              </a:solidFill>
              <a:latin typeface="Work Sans Light"/>
              <a:ea typeface="Work Sans Light"/>
              <a:cs typeface="Work Sans Light"/>
              <a:sym typeface="Work Sans Light"/>
            </a:endParaRPr>
          </a:p>
          <a:p>
            <a:pPr indent="0" lvl="0" marL="0" rtl="0" algn="l">
              <a:lnSpc>
                <a:spcPct val="115000"/>
              </a:lnSpc>
              <a:spcBef>
                <a:spcPts val="1200"/>
              </a:spcBef>
              <a:spcAft>
                <a:spcPts val="0"/>
              </a:spcAft>
              <a:buClr>
                <a:schemeClr val="dk1"/>
              </a:buClr>
              <a:buSzPts val="1100"/>
              <a:buFont typeface="Arial"/>
              <a:buNone/>
            </a:pPr>
            <a:r>
              <a:rPr lang="es-MX" sz="1200">
                <a:solidFill>
                  <a:schemeClr val="dk1"/>
                </a:solidFill>
                <a:latin typeface="Work Sans Light"/>
                <a:ea typeface="Work Sans Light"/>
                <a:cs typeface="Work Sans Light"/>
                <a:sym typeface="Work Sans Light"/>
              </a:rPr>
              <a:t>En lo relacionado con la gestión académica, el seguimiento al rendimiento de los estudiantes se realiza actualmente de manera manual, principalmente mediante planillas físicas o hojas de cálculo en Excel. Este método tradicional, aunque funcional en ciertos contextos, presenta múltiples limitaciones, como la duplicidad de datos, pérdida de información, falta de trazabilidad y dificultad en la actualización o consulta de registros.</a:t>
            </a:r>
            <a:endParaRPr sz="1200">
              <a:solidFill>
                <a:schemeClr val="dk1"/>
              </a:solidFill>
              <a:latin typeface="Work Sans Light"/>
              <a:ea typeface="Work Sans Light"/>
              <a:cs typeface="Work Sans Light"/>
              <a:sym typeface="Work Sans Light"/>
            </a:endParaRPr>
          </a:p>
          <a:p>
            <a:pPr indent="0" lvl="0" marL="0" rtl="0" algn="l">
              <a:lnSpc>
                <a:spcPct val="115000"/>
              </a:lnSpc>
              <a:spcBef>
                <a:spcPts val="1200"/>
              </a:spcBef>
              <a:spcAft>
                <a:spcPts val="0"/>
              </a:spcAft>
              <a:buClr>
                <a:schemeClr val="dk1"/>
              </a:buClr>
              <a:buSzPts val="1100"/>
              <a:buFont typeface="Arial"/>
              <a:buNone/>
            </a:pPr>
            <a:r>
              <a:rPr lang="es-MX" sz="1200">
                <a:solidFill>
                  <a:schemeClr val="dk1"/>
                </a:solidFill>
                <a:latin typeface="Work Sans Light"/>
                <a:ea typeface="Work Sans Light"/>
                <a:cs typeface="Work Sans Light"/>
                <a:sym typeface="Work Sans Light"/>
              </a:rPr>
              <a:t>Asimismo, la generación de reportes académicos no se realiza de forma continua, sino únicamente en momentos específicos del calendario escolar, como durante las jornadas generales de entrega de notas. Esto limita la capacidad de los docentes y directivos para realizar un seguimiento oportuno del progreso estudiantil, detectar a tiempo dificultades académicas y tomar decisiones informadas que favorezcan el proceso de enseñanza-aprendizaje.</a:t>
            </a:r>
            <a:endParaRPr sz="1200">
              <a:solidFill>
                <a:schemeClr val="dk1"/>
              </a:solidFill>
              <a:latin typeface="Work Sans Light"/>
              <a:ea typeface="Work Sans Light"/>
              <a:cs typeface="Work Sans Light"/>
              <a:sym typeface="Work Sans Light"/>
            </a:endParaRPr>
          </a:p>
          <a:p>
            <a:pPr indent="0" lvl="0" marL="0" rtl="0" algn="l">
              <a:lnSpc>
                <a:spcPct val="115000"/>
              </a:lnSpc>
              <a:spcBef>
                <a:spcPts val="1200"/>
              </a:spcBef>
              <a:spcAft>
                <a:spcPts val="0"/>
              </a:spcAft>
              <a:buClr>
                <a:schemeClr val="dk1"/>
              </a:buClr>
              <a:buSzPts val="1100"/>
              <a:buFont typeface="Arial"/>
              <a:buNone/>
            </a:pPr>
            <a:r>
              <a:rPr lang="es-MX" sz="1200">
                <a:solidFill>
                  <a:schemeClr val="dk1"/>
                </a:solidFill>
                <a:latin typeface="Work Sans Light"/>
                <a:ea typeface="Work Sans Light"/>
                <a:cs typeface="Work Sans Light"/>
                <a:sym typeface="Work Sans Light"/>
              </a:rPr>
              <a:t>En consecuencia, la ausencia de un sistema automatizado e integrado dificulta el manejo eficiente de la información académica, afectando la calidad de los procesos internos y la toma de decisiones estratégicas en la institución.</a:t>
            </a:r>
            <a:endParaRPr sz="1200">
              <a:solidFill>
                <a:schemeClr val="dk1"/>
              </a:solidFill>
              <a:latin typeface="Work Sans Light"/>
              <a:ea typeface="Work Sans Light"/>
              <a:cs typeface="Work Sans Light"/>
              <a:sym typeface="Work Sans Light"/>
            </a:endParaRPr>
          </a:p>
          <a:p>
            <a:pPr indent="0" lvl="0" marL="0" marR="0" rtl="0" algn="l">
              <a:lnSpc>
                <a:spcPct val="100000"/>
              </a:lnSpc>
              <a:spcBef>
                <a:spcPts val="1200"/>
              </a:spcBef>
              <a:spcAft>
                <a:spcPts val="0"/>
              </a:spcAft>
              <a:buClr>
                <a:srgbClr val="000000"/>
              </a:buClr>
              <a:buSzPts val="1600"/>
              <a:buFont typeface="Arial"/>
              <a:buNone/>
            </a:pPr>
            <a:r>
              <a:t/>
            </a:r>
            <a:endParaRPr sz="1200">
              <a:solidFill>
                <a:schemeClr val="dk1"/>
              </a:solidFill>
              <a:latin typeface="Work Sans Light"/>
              <a:ea typeface="Work Sans Light"/>
              <a:cs typeface="Work Sans Light"/>
              <a:sym typeface="Work Sans Light"/>
            </a:endParaRPr>
          </a:p>
        </p:txBody>
      </p:sp>
      <p:sp>
        <p:nvSpPr>
          <p:cNvPr id="126" name="Google Shape;126;p2"/>
          <p:cNvSpPr/>
          <p:nvPr/>
        </p:nvSpPr>
        <p:spPr>
          <a:xfrm>
            <a:off x="6705450" y="0"/>
            <a:ext cx="4134000" cy="6858000"/>
          </a:xfrm>
          <a:custGeom>
            <a:rect b="b" l="l" r="r" t="t"/>
            <a:pathLst>
              <a:path extrusionOk="0" h="1593725" w="1094884">
                <a:moveTo>
                  <a:pt x="0" y="0"/>
                </a:moveTo>
                <a:lnTo>
                  <a:pt x="1094884" y="0"/>
                </a:lnTo>
                <a:lnTo>
                  <a:pt x="1094884" y="1593725"/>
                </a:lnTo>
                <a:lnTo>
                  <a:pt x="0" y="1593725"/>
                </a:lnTo>
                <a:close/>
              </a:path>
            </a:pathLst>
          </a:custGeom>
          <a:blipFill rotWithShape="1">
            <a:blip r:embed="rId4">
              <a:alphaModFix/>
            </a:blip>
            <a:stretch>
              <a:fillRect b="0" l="-70284" r="-70284"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3"/>
          <p:cNvSpPr txBox="1"/>
          <p:nvPr/>
        </p:nvSpPr>
        <p:spPr>
          <a:xfrm>
            <a:off x="5773600" y="505850"/>
            <a:ext cx="4613069"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0" i="0" lang="es-MX" sz="4400" u="none" cap="none" strike="noStrike">
                <a:solidFill>
                  <a:srgbClr val="0C0C0C"/>
                </a:solidFill>
                <a:latin typeface="Work Sans Medium"/>
                <a:ea typeface="Work Sans Medium"/>
                <a:cs typeface="Work Sans Medium"/>
                <a:sym typeface="Work Sans Medium"/>
              </a:rPr>
              <a:t>Justificación </a:t>
            </a:r>
            <a:endParaRPr b="0" i="0" sz="4400" u="none" cap="none" strike="noStrike">
              <a:solidFill>
                <a:srgbClr val="0C0C0C"/>
              </a:solidFill>
              <a:latin typeface="Work Sans Medium"/>
              <a:ea typeface="Work Sans Medium"/>
              <a:cs typeface="Work Sans Medium"/>
              <a:sym typeface="Work Sans Medium"/>
            </a:endParaRPr>
          </a:p>
        </p:txBody>
      </p:sp>
      <p:sp>
        <p:nvSpPr>
          <p:cNvPr id="132" name="Google Shape;132;p3"/>
          <p:cNvSpPr txBox="1"/>
          <p:nvPr/>
        </p:nvSpPr>
        <p:spPr>
          <a:xfrm>
            <a:off x="5202000" y="1518800"/>
            <a:ext cx="55698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lang="es-MX" sz="1600">
                <a:solidFill>
                  <a:schemeClr val="dk1"/>
                </a:solidFill>
                <a:latin typeface="Work Sans"/>
                <a:ea typeface="Work Sans"/>
                <a:cs typeface="Work Sans"/>
                <a:sym typeface="Work Sans"/>
              </a:rPr>
              <a:t>Se propone el desarrollo de un Sistema de Información Web denominado </a:t>
            </a:r>
            <a:r>
              <a:rPr i="1" lang="es-MX" sz="1600">
                <a:solidFill>
                  <a:schemeClr val="dk1"/>
                </a:solidFill>
                <a:latin typeface="Work Sans"/>
                <a:ea typeface="Work Sans"/>
                <a:cs typeface="Work Sans"/>
                <a:sym typeface="Work Sans"/>
              </a:rPr>
              <a:t>Edunet</a:t>
            </a:r>
            <a:r>
              <a:rPr lang="es-MX" sz="1600">
                <a:solidFill>
                  <a:schemeClr val="dk1"/>
                </a:solidFill>
                <a:latin typeface="Work Sans"/>
                <a:ea typeface="Work Sans"/>
                <a:cs typeface="Work Sans"/>
                <a:sym typeface="Work Sans"/>
              </a:rPr>
              <a:t>, que sirva como herramienta software de apoyo al seguimiento de los procesos académicos y administrativos del colegio Jorge Isaacs de Soacha. Este sistema busca centralizar la gestión de usuarios, áreas académicas, áreas administrativas y el monitoreo del rendimiento estudiantil, mejorando la comunicación entre todos los actores de la comunidad educativa.</a:t>
            </a:r>
            <a:endParaRPr sz="1600">
              <a:solidFill>
                <a:schemeClr val="dk1"/>
              </a:solidFill>
              <a:latin typeface="Work Sans Light"/>
              <a:ea typeface="Work Sans Light"/>
              <a:cs typeface="Work Sans Light"/>
              <a:sym typeface="Work Sans Light"/>
            </a:endParaRPr>
          </a:p>
        </p:txBody>
      </p:sp>
      <p:sp>
        <p:nvSpPr>
          <p:cNvPr id="133" name="Google Shape;133;p3"/>
          <p:cNvSpPr/>
          <p:nvPr/>
        </p:nvSpPr>
        <p:spPr>
          <a:xfrm rot="-5400000">
            <a:off x="-755056" y="2118948"/>
            <a:ext cx="6858002" cy="2620103"/>
          </a:xfrm>
          <a:custGeom>
            <a:rect b="b" l="l" r="r" t="t"/>
            <a:pathLst>
              <a:path extrusionOk="0" h="623719" w="2833290">
                <a:moveTo>
                  <a:pt x="0" y="0"/>
                </a:moveTo>
                <a:lnTo>
                  <a:pt x="2833290" y="0"/>
                </a:lnTo>
                <a:lnTo>
                  <a:pt x="2833290" y="623719"/>
                </a:lnTo>
                <a:lnTo>
                  <a:pt x="0" y="623719"/>
                </a:lnTo>
                <a:close/>
              </a:path>
            </a:pathLst>
          </a:custGeom>
          <a:blipFill rotWithShape="1">
            <a:blip r:embed="rId4">
              <a:alphaModFix/>
            </a:blip>
            <a:stretch>
              <a:fillRect b="-101389" l="0" r="0" t="-101392"/>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g363bb039bc9_0_13"/>
          <p:cNvSpPr txBox="1"/>
          <p:nvPr/>
        </p:nvSpPr>
        <p:spPr>
          <a:xfrm>
            <a:off x="5773600" y="505850"/>
            <a:ext cx="46131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0" i="0" lang="es-MX" sz="4400" u="none" cap="none" strike="noStrike">
                <a:solidFill>
                  <a:srgbClr val="0C0C0C"/>
                </a:solidFill>
                <a:latin typeface="Work Sans Medium"/>
                <a:ea typeface="Work Sans Medium"/>
                <a:cs typeface="Work Sans Medium"/>
                <a:sym typeface="Work Sans Medium"/>
              </a:rPr>
              <a:t>Justificación </a:t>
            </a:r>
            <a:endParaRPr b="0" i="0" sz="4400" u="none" cap="none" strike="noStrike">
              <a:solidFill>
                <a:srgbClr val="0C0C0C"/>
              </a:solidFill>
              <a:latin typeface="Work Sans Medium"/>
              <a:ea typeface="Work Sans Medium"/>
              <a:cs typeface="Work Sans Medium"/>
              <a:sym typeface="Work Sans Medium"/>
            </a:endParaRPr>
          </a:p>
        </p:txBody>
      </p:sp>
      <p:sp>
        <p:nvSpPr>
          <p:cNvPr id="139" name="Google Shape;139;g363bb039bc9_0_13"/>
          <p:cNvSpPr txBox="1"/>
          <p:nvPr/>
        </p:nvSpPr>
        <p:spPr>
          <a:xfrm>
            <a:off x="5202000" y="1518800"/>
            <a:ext cx="6006000" cy="47715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100"/>
              <a:buFont typeface="Arial"/>
              <a:buNone/>
            </a:pPr>
            <a:r>
              <a:rPr b="1" lang="es-MX" sz="1600">
                <a:solidFill>
                  <a:schemeClr val="dk1"/>
                </a:solidFill>
                <a:latin typeface="Work Sans"/>
                <a:ea typeface="Work Sans"/>
                <a:cs typeface="Work Sans"/>
                <a:sym typeface="Work Sans"/>
              </a:rPr>
              <a:t>La importancia del Sistema:</a:t>
            </a:r>
            <a:endParaRPr b="1" sz="1600">
              <a:solidFill>
                <a:schemeClr val="dk1"/>
              </a:solidFill>
              <a:latin typeface="Work Sans"/>
              <a:ea typeface="Work Sans"/>
              <a:cs typeface="Work Sans"/>
              <a:sym typeface="Work Sans"/>
            </a:endParaRPr>
          </a:p>
          <a:p>
            <a:pPr indent="0" lvl="0" marL="0" marR="0" rtl="0" algn="l">
              <a:lnSpc>
                <a:spcPct val="150000"/>
              </a:lnSpc>
              <a:spcBef>
                <a:spcPts val="0"/>
              </a:spcBef>
              <a:spcAft>
                <a:spcPts val="0"/>
              </a:spcAft>
              <a:buClr>
                <a:srgbClr val="000000"/>
              </a:buClr>
              <a:buSzPts val="2000"/>
              <a:buFont typeface="Arial"/>
              <a:buNone/>
            </a:pPr>
            <a:r>
              <a:rPr lang="es-MX" sz="1600">
                <a:solidFill>
                  <a:schemeClr val="dk1"/>
                </a:solidFill>
                <a:latin typeface="Work Sans"/>
                <a:ea typeface="Work Sans"/>
                <a:cs typeface="Work Sans"/>
                <a:sym typeface="Work Sans"/>
              </a:rPr>
              <a:t>Permitirá la gestión de los perfiles de estudiantes, docentes, acudientes y personal administrativo como usuarios del colegio Jorge Isaacs de Soacha, ofreciendo acceso diferenciado según el rol. En el módulo académico, los profesores podrán registrar calificaciones y planificaciones, mientras que los estudiantes y acudientes podrán consultar avances académicos en tiempo real. En el módulo administrativo, el personal podrá organizar matrículas, generar reportes y realizar seguimiento institucional. Finalmente, facilitará la gestión de reportes gráficos e impresos necesarios para la toma de decisiones por parte de la dirección del colegio.</a:t>
            </a:r>
            <a:endParaRPr b="1" sz="1600">
              <a:solidFill>
                <a:schemeClr val="dk1"/>
              </a:solidFill>
              <a:latin typeface="Work Sans"/>
              <a:ea typeface="Work Sans"/>
              <a:cs typeface="Work Sans"/>
              <a:sym typeface="Work Sans"/>
            </a:endParaRPr>
          </a:p>
        </p:txBody>
      </p:sp>
      <p:pic>
        <p:nvPicPr>
          <p:cNvPr id="140" name="Google Shape;140;g363bb039bc9_0_13"/>
          <p:cNvPicPr preferRelativeResize="0"/>
          <p:nvPr/>
        </p:nvPicPr>
        <p:blipFill rotWithShape="1">
          <a:blip r:embed="rId4">
            <a:alphaModFix/>
          </a:blip>
          <a:srcRect b="0" l="16907" r="18064" t="0"/>
          <a:stretch/>
        </p:blipFill>
        <p:spPr>
          <a:xfrm>
            <a:off x="689775" y="0"/>
            <a:ext cx="3184525"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g363bb039bc9_0_23"/>
          <p:cNvSpPr txBox="1"/>
          <p:nvPr/>
        </p:nvSpPr>
        <p:spPr>
          <a:xfrm>
            <a:off x="5773600" y="505850"/>
            <a:ext cx="46131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0" i="0" lang="es-MX" sz="4400" u="none" cap="none" strike="noStrike">
                <a:solidFill>
                  <a:srgbClr val="0C0C0C"/>
                </a:solidFill>
                <a:latin typeface="Work Sans Medium"/>
                <a:ea typeface="Work Sans Medium"/>
                <a:cs typeface="Work Sans Medium"/>
                <a:sym typeface="Work Sans Medium"/>
              </a:rPr>
              <a:t>Justificación </a:t>
            </a:r>
            <a:endParaRPr b="0" i="0" sz="4400" u="none" cap="none" strike="noStrike">
              <a:solidFill>
                <a:srgbClr val="0C0C0C"/>
              </a:solidFill>
              <a:latin typeface="Work Sans Medium"/>
              <a:ea typeface="Work Sans Medium"/>
              <a:cs typeface="Work Sans Medium"/>
              <a:sym typeface="Work Sans Medium"/>
            </a:endParaRPr>
          </a:p>
        </p:txBody>
      </p:sp>
      <p:sp>
        <p:nvSpPr>
          <p:cNvPr id="146" name="Google Shape;146;g363bb039bc9_0_23"/>
          <p:cNvSpPr txBox="1"/>
          <p:nvPr/>
        </p:nvSpPr>
        <p:spPr>
          <a:xfrm>
            <a:off x="5202000" y="1518800"/>
            <a:ext cx="5900400" cy="4248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s-MX" sz="1800">
                <a:solidFill>
                  <a:schemeClr val="dk1"/>
                </a:solidFill>
                <a:latin typeface="Work Sans"/>
                <a:ea typeface="Work Sans"/>
                <a:cs typeface="Work Sans"/>
                <a:sym typeface="Work Sans"/>
              </a:rPr>
              <a:t>El aporte al Sector:</a:t>
            </a:r>
            <a:endParaRPr b="1" sz="18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b="1" sz="1800">
              <a:solidFill>
                <a:schemeClr val="dk1"/>
              </a:solidFill>
              <a:latin typeface="Work Sans"/>
              <a:ea typeface="Work Sans"/>
              <a:cs typeface="Work Sans"/>
              <a:sym typeface="Work Sans"/>
            </a:endParaRPr>
          </a:p>
          <a:p>
            <a:pPr indent="0" lvl="0" marL="0" rtl="0" algn="l">
              <a:lnSpc>
                <a:spcPct val="150000"/>
              </a:lnSpc>
              <a:spcBef>
                <a:spcPts val="0"/>
              </a:spcBef>
              <a:spcAft>
                <a:spcPts val="0"/>
              </a:spcAft>
              <a:buNone/>
            </a:pPr>
            <a:r>
              <a:rPr lang="es-MX" sz="1800">
                <a:solidFill>
                  <a:schemeClr val="dk1"/>
                </a:solidFill>
                <a:latin typeface="Work Sans"/>
                <a:ea typeface="Work Sans"/>
                <a:cs typeface="Work Sans"/>
                <a:sym typeface="Work Sans"/>
              </a:rPr>
              <a:t>El sistema </a:t>
            </a:r>
            <a:r>
              <a:rPr i="1" lang="es-MX" sz="1800">
                <a:solidFill>
                  <a:schemeClr val="dk1"/>
                </a:solidFill>
                <a:latin typeface="Work Sans"/>
                <a:ea typeface="Work Sans"/>
                <a:cs typeface="Work Sans"/>
                <a:sym typeface="Work Sans"/>
              </a:rPr>
              <a:t>Edunet</a:t>
            </a:r>
            <a:r>
              <a:rPr lang="es-MX" sz="1800">
                <a:solidFill>
                  <a:schemeClr val="dk1"/>
                </a:solidFill>
                <a:latin typeface="Work Sans"/>
                <a:ea typeface="Work Sans"/>
                <a:cs typeface="Work Sans"/>
                <a:sym typeface="Work Sans"/>
              </a:rPr>
              <a:t> servirá como aporte al sector educativo, especialmente en el ámbito escolar público, al incorporar herramientas tecnológicas accesibles que fortalecen la gestión institucional y promueven una educación más transparente, participativa y eficiente. Su implementación en el colegio Jorge Isaacs de Soacha puede convertirse en un modelo replicable para otras instituciones con necesidades similares.</a:t>
            </a:r>
            <a:endParaRPr sz="1800">
              <a:latin typeface="Work Sans"/>
              <a:ea typeface="Work Sans"/>
              <a:cs typeface="Work Sans"/>
              <a:sym typeface="Work Sans"/>
            </a:endParaRPr>
          </a:p>
        </p:txBody>
      </p:sp>
      <p:pic>
        <p:nvPicPr>
          <p:cNvPr id="147" name="Google Shape;147;g363bb039bc9_0_23"/>
          <p:cNvPicPr preferRelativeResize="0"/>
          <p:nvPr/>
        </p:nvPicPr>
        <p:blipFill rotWithShape="1">
          <a:blip r:embed="rId4">
            <a:alphaModFix/>
          </a:blip>
          <a:srcRect b="0" l="27161" r="0" t="0"/>
          <a:stretch/>
        </p:blipFill>
        <p:spPr>
          <a:xfrm>
            <a:off x="467325" y="0"/>
            <a:ext cx="356700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4"/>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Objetivos</a:t>
            </a:r>
            <a:endParaRPr>
              <a:solidFill>
                <a:schemeClr val="lt1"/>
              </a:solidFill>
              <a:latin typeface="Work Sans Medium"/>
              <a:ea typeface="Work Sans Medium"/>
              <a:cs typeface="Work Sans Medium"/>
              <a:sym typeface="Work Sans Medium"/>
            </a:endParaRPr>
          </a:p>
        </p:txBody>
      </p:sp>
      <p:sp>
        <p:nvSpPr>
          <p:cNvPr id="153" name="Google Shape;153;p4"/>
          <p:cNvSpPr txBox="1"/>
          <p:nvPr/>
        </p:nvSpPr>
        <p:spPr>
          <a:xfrm>
            <a:off x="1017142" y="3581675"/>
            <a:ext cx="5677200" cy="193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s-MX" sz="2400">
                <a:solidFill>
                  <a:schemeClr val="dk1"/>
                </a:solidFill>
                <a:latin typeface="Work Sans Light"/>
                <a:ea typeface="Work Sans Light"/>
                <a:cs typeface="Work Sans Light"/>
                <a:sym typeface="Work Sans Light"/>
              </a:rPr>
              <a:t>Desarrollar una plataforma web y </a:t>
            </a:r>
            <a:r>
              <a:rPr lang="es-MX" sz="2400">
                <a:solidFill>
                  <a:schemeClr val="dk1"/>
                </a:solidFill>
                <a:latin typeface="Work Sans Light"/>
                <a:ea typeface="Work Sans Light"/>
                <a:cs typeface="Work Sans Light"/>
                <a:sym typeface="Work Sans Light"/>
              </a:rPr>
              <a:t>móvil</a:t>
            </a:r>
            <a:r>
              <a:rPr lang="es-MX" sz="2400">
                <a:solidFill>
                  <a:schemeClr val="dk1"/>
                </a:solidFill>
                <a:latin typeface="Work Sans Light"/>
                <a:ea typeface="Work Sans Light"/>
                <a:cs typeface="Work Sans Light"/>
                <a:sym typeface="Work Sans Light"/>
              </a:rPr>
              <a:t> que ayude en los procesos de los estudiantes, docentes, tutores y administradores de la institución educativa Jorge Isaacs de Soacha</a:t>
            </a:r>
            <a:endParaRPr b="0" i="0" sz="1400" u="none" cap="none" strike="noStrike">
              <a:solidFill>
                <a:srgbClr val="000000"/>
              </a:solidFill>
              <a:latin typeface="Arial"/>
              <a:ea typeface="Arial"/>
              <a:cs typeface="Arial"/>
              <a:sym typeface="Arial"/>
            </a:endParaRPr>
          </a:p>
        </p:txBody>
      </p:sp>
      <p:sp>
        <p:nvSpPr>
          <p:cNvPr id="154" name="Google Shape;154;p4"/>
          <p:cNvSpPr txBox="1"/>
          <p:nvPr/>
        </p:nvSpPr>
        <p:spPr>
          <a:xfrm>
            <a:off x="1017142" y="2205887"/>
            <a:ext cx="4613069"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Work Sans Medium"/>
              <a:buNone/>
            </a:pPr>
            <a:r>
              <a:rPr b="1" i="0" lang="es-MX" sz="4400" u="none" cap="none" strike="noStrike">
                <a:solidFill>
                  <a:srgbClr val="0C0C0C"/>
                </a:solidFill>
                <a:latin typeface="Work Sans Medium"/>
                <a:ea typeface="Work Sans Medium"/>
                <a:cs typeface="Work Sans Medium"/>
                <a:sym typeface="Work Sans Medium"/>
              </a:rPr>
              <a:t>Objetivo General </a:t>
            </a:r>
            <a:endParaRPr b="1" i="0" sz="4400" u="none" cap="none" strike="noStrike">
              <a:solidFill>
                <a:srgbClr val="0C0C0C"/>
              </a:solidFill>
              <a:latin typeface="Work Sans Medium"/>
              <a:ea typeface="Work Sans Medium"/>
              <a:cs typeface="Work Sans Medium"/>
              <a:sym typeface="Work Sans Medium"/>
            </a:endParaRPr>
          </a:p>
        </p:txBody>
      </p:sp>
      <p:sp>
        <p:nvSpPr>
          <p:cNvPr id="155" name="Google Shape;155;p4"/>
          <p:cNvSpPr/>
          <p:nvPr/>
        </p:nvSpPr>
        <p:spPr>
          <a:xfrm>
            <a:off x="7655697" y="1797236"/>
            <a:ext cx="2948136" cy="4705389"/>
          </a:xfrm>
          <a:custGeom>
            <a:rect b="b" l="l" r="r" t="t"/>
            <a:pathLst>
              <a:path extrusionOk="0" h="1593725" w="1094884">
                <a:moveTo>
                  <a:pt x="0" y="0"/>
                </a:moveTo>
                <a:lnTo>
                  <a:pt x="1094884" y="0"/>
                </a:lnTo>
                <a:lnTo>
                  <a:pt x="1094884" y="1593725"/>
                </a:lnTo>
                <a:lnTo>
                  <a:pt x="0" y="1593725"/>
                </a:lnTo>
                <a:close/>
              </a:path>
            </a:pathLst>
          </a:custGeom>
          <a:blipFill rotWithShape="1">
            <a:blip r:embed="rId3">
              <a:alphaModFix/>
            </a:blip>
            <a:stretch>
              <a:fillRect b="0" l="-59222" r="-59222"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Objetivos</a:t>
            </a:r>
            <a:endParaRPr>
              <a:solidFill>
                <a:schemeClr val="lt1"/>
              </a:solidFill>
              <a:latin typeface="Work Sans Medium"/>
              <a:ea typeface="Work Sans Medium"/>
              <a:cs typeface="Work Sans Medium"/>
              <a:sym typeface="Work Sans Medium"/>
            </a:endParaRPr>
          </a:p>
        </p:txBody>
      </p:sp>
      <p:sp>
        <p:nvSpPr>
          <p:cNvPr id="161" name="Google Shape;161;p5"/>
          <p:cNvSpPr txBox="1"/>
          <p:nvPr/>
        </p:nvSpPr>
        <p:spPr>
          <a:xfrm>
            <a:off x="4645525" y="2404350"/>
            <a:ext cx="7208100" cy="4109700"/>
          </a:xfrm>
          <a:prstGeom prst="rect">
            <a:avLst/>
          </a:prstGeom>
          <a:noFill/>
          <a:ln>
            <a:noFill/>
          </a:ln>
        </p:spPr>
        <p:txBody>
          <a:bodyPr anchorCtr="0" anchor="t" bIns="45700" lIns="91425" spcFirstLastPara="1" rIns="91425" wrap="square" tIns="45700">
            <a:spAutoFit/>
          </a:bodyPr>
          <a:lstStyle/>
          <a:p>
            <a:pPr indent="-342900" lvl="0" marL="457200" rtl="0" algn="just">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los usuarios de la </a:t>
            </a:r>
            <a:r>
              <a:rPr lang="es-MX" sz="1800">
                <a:latin typeface="Work Sans Light"/>
                <a:ea typeface="Work Sans Light"/>
                <a:cs typeface="Work Sans Light"/>
                <a:sym typeface="Work Sans Light"/>
              </a:rPr>
              <a:t>institución</a:t>
            </a:r>
            <a:r>
              <a:rPr lang="es-MX" sz="1800">
                <a:latin typeface="Work Sans Light"/>
                <a:ea typeface="Work Sans Light"/>
                <a:cs typeface="Work Sans Light"/>
                <a:sym typeface="Work Sans Light"/>
              </a:rPr>
              <a:t> </a:t>
            </a:r>
            <a:r>
              <a:rPr lang="es-MX" sz="1800">
                <a:latin typeface="Work Sans Light"/>
                <a:ea typeface="Work Sans Light"/>
                <a:cs typeface="Work Sans Light"/>
                <a:sym typeface="Work Sans Light"/>
              </a:rPr>
              <a:t>académica</a:t>
            </a:r>
            <a:r>
              <a:rPr lang="es-MX" sz="1800">
                <a:latin typeface="Work Sans Light"/>
                <a:ea typeface="Work Sans Light"/>
                <a:cs typeface="Work Sans Light"/>
                <a:sym typeface="Work Sans Light"/>
              </a:rPr>
              <a:t> Jorge Isaacs de Soacha</a:t>
            </a:r>
            <a:endParaRPr sz="1800">
              <a:latin typeface="Work Sans Light"/>
              <a:ea typeface="Work Sans Light"/>
              <a:cs typeface="Work Sans Light"/>
              <a:sym typeface="Work Sans Light"/>
            </a:endParaRPr>
          </a:p>
          <a:p>
            <a:pPr indent="-342900" lvl="0" marL="457200" rtl="0" algn="just">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el </a:t>
            </a:r>
            <a:r>
              <a:rPr lang="es-MX" sz="1800">
                <a:latin typeface="Work Sans Light"/>
                <a:ea typeface="Work Sans Light"/>
                <a:cs typeface="Work Sans Light"/>
                <a:sym typeface="Work Sans Light"/>
              </a:rPr>
              <a:t>área</a:t>
            </a:r>
            <a:r>
              <a:rPr lang="es-MX" sz="1800">
                <a:latin typeface="Work Sans Light"/>
                <a:ea typeface="Work Sans Light"/>
                <a:cs typeface="Work Sans Light"/>
                <a:sym typeface="Work Sans Light"/>
              </a:rPr>
              <a:t> </a:t>
            </a:r>
            <a:r>
              <a:rPr lang="es-MX" sz="1800">
                <a:latin typeface="Work Sans Light"/>
                <a:ea typeface="Work Sans Light"/>
                <a:cs typeface="Work Sans Light"/>
                <a:sym typeface="Work Sans Light"/>
              </a:rPr>
              <a:t>académica</a:t>
            </a:r>
            <a:r>
              <a:rPr lang="es-MX" sz="1800">
                <a:latin typeface="Work Sans Light"/>
                <a:ea typeface="Work Sans Light"/>
                <a:cs typeface="Work Sans Light"/>
                <a:sym typeface="Work Sans Light"/>
              </a:rPr>
              <a:t> de </a:t>
            </a:r>
            <a:r>
              <a:rPr lang="es-MX" sz="1800">
                <a:solidFill>
                  <a:schemeClr val="dk1"/>
                </a:solidFill>
                <a:latin typeface="Work Sans Light"/>
                <a:ea typeface="Work Sans Light"/>
                <a:cs typeface="Work Sans Light"/>
                <a:sym typeface="Work Sans Light"/>
              </a:rPr>
              <a:t>la institución académica Jorge Isaacs de Soacha</a:t>
            </a:r>
            <a:endParaRPr sz="1800">
              <a:latin typeface="Work Sans Light"/>
              <a:ea typeface="Work Sans Light"/>
              <a:cs typeface="Work Sans Light"/>
              <a:sym typeface="Work Sans Light"/>
            </a:endParaRPr>
          </a:p>
          <a:p>
            <a:pPr indent="-342900" lvl="0" marL="457200" rtl="0" algn="just">
              <a:lnSpc>
                <a:spcPct val="150000"/>
              </a:lnSpc>
              <a:spcBef>
                <a:spcPts val="0"/>
              </a:spcBef>
              <a:spcAft>
                <a:spcPts val="0"/>
              </a:spcAft>
              <a:buClr>
                <a:schemeClr val="dk1"/>
              </a:buClr>
              <a:buSzPts val="1800"/>
              <a:buFont typeface="Work Sans Light"/>
              <a:buChar char="●"/>
            </a:pPr>
            <a:r>
              <a:rPr lang="es-MX" sz="1800">
                <a:solidFill>
                  <a:schemeClr val="dk1"/>
                </a:solidFill>
                <a:latin typeface="Work Sans Light"/>
                <a:ea typeface="Work Sans Light"/>
                <a:cs typeface="Work Sans Light"/>
                <a:sym typeface="Work Sans Light"/>
              </a:rPr>
              <a:t>Gestionar el área administrativa de la institución académica Jorge Isaacs de Soacha</a:t>
            </a:r>
            <a:endParaRPr sz="1800">
              <a:latin typeface="Work Sans Light"/>
              <a:ea typeface="Work Sans Light"/>
              <a:cs typeface="Work Sans Light"/>
              <a:sym typeface="Work Sans Light"/>
            </a:endParaRPr>
          </a:p>
          <a:p>
            <a:pPr indent="-342900" lvl="0" marL="457200" rtl="0" algn="just">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el seguimiento del progreso académico de los estudiantes por parte de los acudientes.</a:t>
            </a:r>
            <a:endParaRPr sz="1800">
              <a:latin typeface="Work Sans Light"/>
              <a:ea typeface="Work Sans Light"/>
              <a:cs typeface="Work Sans Light"/>
              <a:sym typeface="Work Sans Light"/>
            </a:endParaRPr>
          </a:p>
          <a:p>
            <a:pPr indent="-342900" lvl="0" marL="457200" rtl="0" algn="just">
              <a:lnSpc>
                <a:spcPct val="150000"/>
              </a:lnSpc>
              <a:spcBef>
                <a:spcPts val="0"/>
              </a:spcBef>
              <a:spcAft>
                <a:spcPts val="0"/>
              </a:spcAft>
              <a:buSzPts val="1800"/>
              <a:buFont typeface="Work Sans Light"/>
              <a:buChar char="●"/>
            </a:pPr>
            <a:r>
              <a:rPr lang="es-MX" sz="1800">
                <a:latin typeface="Work Sans Light"/>
                <a:ea typeface="Work Sans Light"/>
                <a:cs typeface="Work Sans Light"/>
                <a:sym typeface="Work Sans Light"/>
              </a:rPr>
              <a:t>Gestionar la </a:t>
            </a:r>
            <a:r>
              <a:rPr lang="es-MX" sz="1800">
                <a:latin typeface="Work Sans Light"/>
                <a:ea typeface="Work Sans Light"/>
                <a:cs typeface="Work Sans Light"/>
                <a:sym typeface="Work Sans Light"/>
              </a:rPr>
              <a:t>generación</a:t>
            </a:r>
            <a:r>
              <a:rPr lang="es-MX" sz="1800">
                <a:latin typeface="Work Sans Light"/>
                <a:ea typeface="Work Sans Light"/>
                <a:cs typeface="Work Sans Light"/>
                <a:sym typeface="Work Sans Light"/>
              </a:rPr>
              <a:t> de reportes </a:t>
            </a:r>
            <a:r>
              <a:rPr lang="es-MX" sz="1800">
                <a:solidFill>
                  <a:schemeClr val="dk1"/>
                </a:solidFill>
                <a:latin typeface="Work Sans Light"/>
                <a:ea typeface="Work Sans Light"/>
                <a:cs typeface="Work Sans Light"/>
                <a:sym typeface="Work Sans Light"/>
              </a:rPr>
              <a:t>de la institución académica Jorge Isaacs de Soacha</a:t>
            </a:r>
            <a:endParaRPr sz="1800">
              <a:latin typeface="Work Sans Light"/>
              <a:ea typeface="Work Sans Light"/>
              <a:cs typeface="Work Sans Light"/>
              <a:sym typeface="Work Sans Light"/>
            </a:endParaRPr>
          </a:p>
        </p:txBody>
      </p:sp>
      <p:sp>
        <p:nvSpPr>
          <p:cNvPr id="162" name="Google Shape;162;p5"/>
          <p:cNvSpPr txBox="1"/>
          <p:nvPr/>
        </p:nvSpPr>
        <p:spPr>
          <a:xfrm>
            <a:off x="5149607" y="1662004"/>
            <a:ext cx="603165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000"/>
              <a:buFont typeface="Open Sans"/>
              <a:buNone/>
            </a:pPr>
            <a:r>
              <a:rPr b="1" i="0" lang="es-MX" sz="4000" u="none" cap="none" strike="noStrike">
                <a:solidFill>
                  <a:srgbClr val="000000"/>
                </a:solidFill>
                <a:latin typeface="Open Sans"/>
                <a:ea typeface="Open Sans"/>
                <a:cs typeface="Open Sans"/>
                <a:sym typeface="Open Sans"/>
              </a:rPr>
              <a:t>Objetivos Específicos</a:t>
            </a:r>
            <a:endParaRPr b="1" i="0" sz="4000" u="none" cap="none" strike="noStrike">
              <a:solidFill>
                <a:srgbClr val="0C0C0C"/>
              </a:solidFill>
              <a:latin typeface="Work Sans Medium"/>
              <a:ea typeface="Work Sans Medium"/>
              <a:cs typeface="Work Sans Medium"/>
              <a:sym typeface="Work Sans Medium"/>
            </a:endParaRPr>
          </a:p>
        </p:txBody>
      </p:sp>
      <p:pic>
        <p:nvPicPr>
          <p:cNvPr id="163" name="Google Shape;163;p5"/>
          <p:cNvPicPr preferRelativeResize="0"/>
          <p:nvPr/>
        </p:nvPicPr>
        <p:blipFill>
          <a:blip r:embed="rId3">
            <a:alphaModFix/>
          </a:blip>
          <a:stretch>
            <a:fillRect/>
          </a:stretch>
        </p:blipFill>
        <p:spPr>
          <a:xfrm>
            <a:off x="456225" y="1662000"/>
            <a:ext cx="3808251" cy="5214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725f035ecc_1_17"/>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solidFill>
                <a:schemeClr val="lt1"/>
              </a:solidFill>
              <a:latin typeface="Work Sans Medium"/>
              <a:ea typeface="Work Sans Medium"/>
              <a:cs typeface="Work Sans Medium"/>
              <a:sym typeface="Work Sans Medium"/>
            </a:endParaRPr>
          </a:p>
        </p:txBody>
      </p:sp>
      <p:sp>
        <p:nvSpPr>
          <p:cNvPr id="169" name="Google Shape;169;g3725f035ecc_1_17"/>
          <p:cNvSpPr txBox="1"/>
          <p:nvPr/>
        </p:nvSpPr>
        <p:spPr>
          <a:xfrm>
            <a:off x="777550" y="1720938"/>
            <a:ext cx="6645600" cy="480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MX" sz="1700" u="none" cap="none" strike="noStrike">
                <a:solidFill>
                  <a:srgbClr val="0C0C0C"/>
                </a:solidFill>
                <a:latin typeface="Work Sans"/>
                <a:ea typeface="Work Sans"/>
                <a:cs typeface="Work Sans"/>
                <a:sym typeface="Work Sans"/>
              </a:rPr>
              <a:t>Incluye:</a:t>
            </a:r>
            <a:endParaRPr b="1" i="0" sz="1700" u="none" cap="none" strike="noStrike">
              <a:solidFill>
                <a:srgbClr val="0C0C0C"/>
              </a:solidFill>
              <a:latin typeface="Work Sans"/>
              <a:ea typeface="Work Sans"/>
              <a:cs typeface="Work Sans"/>
              <a:sym typeface="Work Sans"/>
            </a:endParaRPr>
          </a:p>
          <a:p>
            <a:pPr indent="-336550" lvl="0" marL="457200" marR="0" rtl="0" algn="l">
              <a:lnSpc>
                <a:spcPct val="100000"/>
              </a:lnSpc>
              <a:spcBef>
                <a:spcPts val="0"/>
              </a:spcBef>
              <a:spcAft>
                <a:spcPts val="0"/>
              </a:spcAft>
              <a:buClr>
                <a:schemeClr val="dk1"/>
              </a:buClr>
              <a:buSzPts val="1700"/>
              <a:buFont typeface="Work Sans Light"/>
              <a:buChar char="●"/>
            </a:pPr>
            <a:r>
              <a:rPr b="0" i="0" lang="es-MX" sz="1700" u="none" cap="none" strike="noStrike">
                <a:solidFill>
                  <a:schemeClr val="dk1"/>
                </a:solidFill>
                <a:latin typeface="Work Sans Light"/>
                <a:ea typeface="Work Sans Light"/>
                <a:cs typeface="Work Sans Light"/>
                <a:sym typeface="Work Sans Light"/>
              </a:rPr>
              <a:t>Desarrollo de una plataforma web accesible desde dispositivos móviles y de escritorio.</a:t>
            </a:r>
            <a:endParaRPr b="0" i="0" sz="1700" u="none" cap="none" strike="noStrike">
              <a:solidFill>
                <a:schemeClr val="dk1"/>
              </a:solidFill>
              <a:latin typeface="Work Sans Light"/>
              <a:ea typeface="Work Sans Light"/>
              <a:cs typeface="Work Sans Light"/>
              <a:sym typeface="Work Sans Light"/>
            </a:endParaRPr>
          </a:p>
          <a:p>
            <a:pPr indent="-336550" lvl="0" marL="457200" marR="0" rtl="0" algn="l">
              <a:lnSpc>
                <a:spcPct val="100000"/>
              </a:lnSpc>
              <a:spcBef>
                <a:spcPts val="0"/>
              </a:spcBef>
              <a:spcAft>
                <a:spcPts val="0"/>
              </a:spcAft>
              <a:buClr>
                <a:schemeClr val="dk1"/>
              </a:buClr>
              <a:buSzPts val="1700"/>
              <a:buFont typeface="Work Sans Light"/>
              <a:buChar char="●"/>
            </a:pPr>
            <a:r>
              <a:rPr b="0" i="0" lang="es-MX" sz="1700" u="none" cap="none" strike="noStrike">
                <a:solidFill>
                  <a:schemeClr val="dk1"/>
                </a:solidFill>
                <a:latin typeface="Work Sans Light"/>
                <a:ea typeface="Work Sans Light"/>
                <a:cs typeface="Work Sans Light"/>
                <a:sym typeface="Work Sans Light"/>
              </a:rPr>
              <a:t>Funcionalidades específicas para </a:t>
            </a:r>
            <a:r>
              <a:rPr lang="es-MX" sz="1700">
                <a:solidFill>
                  <a:schemeClr val="dk1"/>
                </a:solidFill>
                <a:latin typeface="Work Sans Light"/>
                <a:ea typeface="Work Sans Light"/>
                <a:cs typeface="Work Sans Light"/>
                <a:sym typeface="Work Sans Light"/>
              </a:rPr>
              <a:t>cada uno de los roles:</a:t>
            </a:r>
            <a:endParaRPr sz="1700">
              <a:solidFill>
                <a:schemeClr val="dk1"/>
              </a:solidFill>
              <a:latin typeface="Work Sans Light"/>
              <a:ea typeface="Work Sans Light"/>
              <a:cs typeface="Work Sans Light"/>
              <a:sym typeface="Work Sans Light"/>
            </a:endParaRPr>
          </a:p>
          <a:p>
            <a:pPr indent="-336550" lvl="1" marL="914400" marR="0" rtl="0" algn="l">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Estudiantes: consultar calificaciones, tareas asignadas, calendario académico, materiales de estudio, mensajería con docentes</a:t>
            </a:r>
            <a:endParaRPr sz="1700">
              <a:solidFill>
                <a:schemeClr val="dk1"/>
              </a:solidFill>
              <a:latin typeface="Work Sans Light"/>
              <a:ea typeface="Work Sans Light"/>
              <a:cs typeface="Work Sans Light"/>
              <a:sym typeface="Work Sans Light"/>
            </a:endParaRPr>
          </a:p>
          <a:p>
            <a:pPr indent="-336550" lvl="1" marL="914400" marR="0" rtl="0" algn="l">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Profesores: Carga de calificaciones, publicación de tareas y materiales, asistencia en línea, comunicación con docentes y tutores.</a:t>
            </a:r>
            <a:endParaRPr sz="1700">
              <a:solidFill>
                <a:schemeClr val="dk1"/>
              </a:solidFill>
              <a:latin typeface="Work Sans Light"/>
              <a:ea typeface="Work Sans Light"/>
              <a:cs typeface="Work Sans Light"/>
              <a:sym typeface="Work Sans Light"/>
            </a:endParaRPr>
          </a:p>
          <a:p>
            <a:pPr indent="-336550" lvl="1" marL="914400" marR="0" rtl="0" algn="l">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Padres de familia: Acceso a calificaciones y reportes de asistencia, notificaciones de eventos escolares, comunicación con docentes y administración. </a:t>
            </a:r>
            <a:endParaRPr sz="1700">
              <a:solidFill>
                <a:schemeClr val="dk1"/>
              </a:solidFill>
              <a:latin typeface="Work Sans Light"/>
              <a:ea typeface="Work Sans Light"/>
              <a:cs typeface="Work Sans Light"/>
              <a:sym typeface="Work Sans Light"/>
            </a:endParaRPr>
          </a:p>
          <a:p>
            <a:pPr indent="-336550" lvl="1" marL="914400" marR="0" rtl="0" algn="l">
              <a:lnSpc>
                <a:spcPct val="100000"/>
              </a:lnSpc>
              <a:spcBef>
                <a:spcPts val="0"/>
              </a:spcBef>
              <a:spcAft>
                <a:spcPts val="0"/>
              </a:spcAft>
              <a:buClr>
                <a:schemeClr val="dk1"/>
              </a:buClr>
              <a:buSzPts val="1700"/>
              <a:buFont typeface="Work Sans Light"/>
              <a:buChar char="○"/>
            </a:pPr>
            <a:r>
              <a:rPr lang="es-MX" sz="1700">
                <a:solidFill>
                  <a:schemeClr val="dk1"/>
                </a:solidFill>
                <a:latin typeface="Work Sans Light"/>
                <a:ea typeface="Work Sans Light"/>
                <a:cs typeface="Work Sans Light"/>
                <a:sym typeface="Work Sans Light"/>
              </a:rPr>
              <a:t>Administración: Gestión de usuarios (Crear, visualizar, modificar, inactivar), generación de reportes académicos y administrativos, gestión de calendarios y avisos generales.</a:t>
            </a:r>
            <a:endParaRPr sz="1700">
              <a:solidFill>
                <a:schemeClr val="dk1"/>
              </a:solidFill>
              <a:latin typeface="Work Sans Light"/>
              <a:ea typeface="Work Sans Light"/>
              <a:cs typeface="Work Sans Light"/>
              <a:sym typeface="Work Sans Light"/>
            </a:endParaRPr>
          </a:p>
          <a:p>
            <a:pPr indent="0" lvl="0" marL="0" marR="0" rtl="0" algn="l">
              <a:lnSpc>
                <a:spcPct val="100000"/>
              </a:lnSpc>
              <a:spcBef>
                <a:spcPts val="0"/>
              </a:spcBef>
              <a:spcAft>
                <a:spcPts val="0"/>
              </a:spcAft>
              <a:buClr>
                <a:srgbClr val="000000"/>
              </a:buClr>
              <a:buSzPts val="2400"/>
              <a:buFont typeface="Arial"/>
              <a:buNone/>
            </a:pPr>
            <a:r>
              <a:t/>
            </a:r>
            <a:endParaRPr b="0" i="0" sz="1700" u="none" cap="none" strike="noStrike">
              <a:solidFill>
                <a:schemeClr val="dk1"/>
              </a:solidFill>
              <a:latin typeface="Work Sans Light"/>
              <a:ea typeface="Work Sans Light"/>
              <a:cs typeface="Work Sans Light"/>
              <a:sym typeface="Work Sans Light"/>
            </a:endParaRPr>
          </a:p>
        </p:txBody>
      </p:sp>
      <p:sp>
        <p:nvSpPr>
          <p:cNvPr id="170" name="Google Shape;170;g3725f035ecc_1_17"/>
          <p:cNvSpPr/>
          <p:nvPr/>
        </p:nvSpPr>
        <p:spPr>
          <a:xfrm>
            <a:off x="8231072" y="1769411"/>
            <a:ext cx="2947975" cy="4705473"/>
          </a:xfrm>
          <a:custGeom>
            <a:rect b="b" l="l" r="r" t="t"/>
            <a:pathLst>
              <a:path extrusionOk="0" h="1593725" w="1094884">
                <a:moveTo>
                  <a:pt x="0" y="0"/>
                </a:moveTo>
                <a:lnTo>
                  <a:pt x="1094884" y="0"/>
                </a:lnTo>
                <a:lnTo>
                  <a:pt x="1094884" y="1593725"/>
                </a:lnTo>
                <a:lnTo>
                  <a:pt x="0" y="1593725"/>
                </a:lnTo>
                <a:close/>
              </a:path>
            </a:pathLst>
          </a:custGeom>
          <a:blipFill rotWithShape="1">
            <a:blip r:embed="rId3">
              <a:alphaModFix/>
            </a:blip>
            <a:stretch>
              <a:fillRect b="0" l="-59222" r="-59222"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6618704700_1_1"/>
          <p:cNvSpPr txBox="1"/>
          <p:nvPr>
            <p:ph type="title"/>
          </p:nvPr>
        </p:nvSpPr>
        <p:spPr>
          <a:xfrm>
            <a:off x="441775" y="180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MX">
                <a:solidFill>
                  <a:schemeClr val="lt1"/>
                </a:solidFill>
              </a:rPr>
              <a:t>Alcance  </a:t>
            </a:r>
            <a:endParaRPr>
              <a:solidFill>
                <a:schemeClr val="lt1"/>
              </a:solidFill>
            </a:endParaRPr>
          </a:p>
        </p:txBody>
      </p:sp>
      <p:sp>
        <p:nvSpPr>
          <p:cNvPr id="177" name="Google Shape;177;g36618704700_1_1"/>
          <p:cNvSpPr txBox="1"/>
          <p:nvPr/>
        </p:nvSpPr>
        <p:spPr>
          <a:xfrm>
            <a:off x="370000" y="1690825"/>
            <a:ext cx="7825200" cy="463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MX" sz="1700">
                <a:latin typeface="Work Sans"/>
                <a:ea typeface="Work Sans"/>
                <a:cs typeface="Work Sans"/>
                <a:sym typeface="Work Sans"/>
              </a:rPr>
              <a:t>Incluye:</a:t>
            </a:r>
            <a:endParaRPr b="1" sz="1700">
              <a:latin typeface="Work Sans"/>
              <a:ea typeface="Work Sans"/>
              <a:cs typeface="Work Sans"/>
              <a:sym typeface="Work Sans"/>
            </a:endParaRPr>
          </a:p>
          <a:p>
            <a:pPr indent="-336550" lvl="0" marL="4572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Capacitación para el uso de la plataforma y soporte técnico continuo.</a:t>
            </a:r>
            <a:endParaRPr sz="1700">
              <a:latin typeface="Work Sans Light"/>
              <a:ea typeface="Work Sans Light"/>
              <a:cs typeface="Work Sans Light"/>
              <a:sym typeface="Work Sans Light"/>
            </a:endParaRPr>
          </a:p>
          <a:p>
            <a:pPr indent="-336550" lvl="1" marL="9144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Disponible para Android e iOS.</a:t>
            </a:r>
            <a:endParaRPr sz="1700">
              <a:latin typeface="Work Sans Light"/>
              <a:ea typeface="Work Sans Light"/>
              <a:cs typeface="Work Sans Light"/>
              <a:sym typeface="Work Sans Light"/>
            </a:endParaRPr>
          </a:p>
          <a:p>
            <a:pPr indent="-336550" lvl="1" marL="9144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Funcionalidades clave: notificaciones push, acceso rápido a calificaciones, calendario, asistencia, comunicación y envío/recepción de tareas,.</a:t>
            </a:r>
            <a:endParaRPr sz="1700">
              <a:latin typeface="Work Sans Light"/>
              <a:ea typeface="Work Sans Light"/>
              <a:cs typeface="Work Sans Light"/>
              <a:sym typeface="Work Sans Light"/>
            </a:endParaRPr>
          </a:p>
          <a:p>
            <a:pPr indent="-336550" lvl="1" marL="9144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Integración total con la plataforma.</a:t>
            </a:r>
            <a:endParaRPr sz="1700">
              <a:latin typeface="Work Sans Light"/>
              <a:ea typeface="Work Sans Light"/>
              <a:cs typeface="Work Sans Light"/>
              <a:sym typeface="Work Sans Light"/>
            </a:endParaRPr>
          </a:p>
          <a:p>
            <a:pPr indent="-336550" lvl="0" marL="4572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Stack tecnológico: Frontend (Angular 20.3.1), Backend (</a:t>
            </a:r>
            <a:r>
              <a:rPr lang="es-MX" sz="1700" u="sng">
                <a:solidFill>
                  <a:schemeClr val="hlink"/>
                </a:solidFill>
                <a:latin typeface="Work Sans Light"/>
                <a:ea typeface="Work Sans Light"/>
                <a:cs typeface="Work Sans Light"/>
                <a:sym typeface="Work Sans Light"/>
                <a:hlinkClick r:id="rId3"/>
              </a:rPr>
              <a:t>Express.js</a:t>
            </a:r>
            <a:r>
              <a:rPr lang="es-MX" sz="1700">
                <a:latin typeface="Work Sans Light"/>
                <a:ea typeface="Work Sans Light"/>
                <a:cs typeface="Work Sans Light"/>
                <a:sym typeface="Work Sans Light"/>
              </a:rPr>
              <a:t> 5.1.0), Base de Datos (MySql 8.0.43)</a:t>
            </a:r>
            <a:endParaRPr sz="1700">
              <a:latin typeface="Work Sans Light"/>
              <a:ea typeface="Work Sans Light"/>
              <a:cs typeface="Work Sans Light"/>
              <a:sym typeface="Work Sans Light"/>
            </a:endParaRPr>
          </a:p>
          <a:p>
            <a:pPr indent="0" lvl="0" marL="0" rtl="0" algn="l">
              <a:spcBef>
                <a:spcPts val="0"/>
              </a:spcBef>
              <a:spcAft>
                <a:spcPts val="0"/>
              </a:spcAft>
              <a:buNone/>
            </a:pPr>
            <a:r>
              <a:rPr b="1" lang="es-MX" sz="1700">
                <a:latin typeface="Work Sans"/>
                <a:ea typeface="Work Sans"/>
                <a:cs typeface="Work Sans"/>
                <a:sym typeface="Work Sans"/>
              </a:rPr>
              <a:t>Excluye:</a:t>
            </a:r>
            <a:endParaRPr b="1" sz="1700">
              <a:latin typeface="Work Sans"/>
              <a:ea typeface="Work Sans"/>
              <a:cs typeface="Work Sans"/>
              <a:sym typeface="Work Sans"/>
            </a:endParaRPr>
          </a:p>
          <a:p>
            <a:pPr indent="-336550" lvl="0" marL="4572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Contenido educativo específico, que deberá ser proporcionado por los profesores.</a:t>
            </a:r>
            <a:endParaRPr sz="1700">
              <a:latin typeface="Work Sans Light"/>
              <a:ea typeface="Work Sans Light"/>
              <a:cs typeface="Work Sans Light"/>
              <a:sym typeface="Work Sans Light"/>
            </a:endParaRPr>
          </a:p>
          <a:p>
            <a:pPr indent="-336550" lvl="0" marL="4572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No se realizará un módulo o apartado por el cual realizar pagos a la institución como matrículas, etc. </a:t>
            </a:r>
            <a:endParaRPr sz="1700">
              <a:latin typeface="Work Sans Light"/>
              <a:ea typeface="Work Sans Light"/>
              <a:cs typeface="Work Sans Light"/>
              <a:sym typeface="Work Sans Light"/>
            </a:endParaRPr>
          </a:p>
          <a:p>
            <a:pPr indent="-336550" lvl="0" marL="457200" rtl="0" algn="l">
              <a:spcBef>
                <a:spcPts val="0"/>
              </a:spcBef>
              <a:spcAft>
                <a:spcPts val="0"/>
              </a:spcAft>
              <a:buSzPts val="1700"/>
              <a:buFont typeface="Work Sans Light"/>
              <a:buChar char="●"/>
            </a:pPr>
            <a:r>
              <a:rPr lang="es-MX" sz="1700">
                <a:latin typeface="Work Sans Light"/>
                <a:ea typeface="Work Sans Light"/>
                <a:cs typeface="Work Sans Light"/>
                <a:sym typeface="Work Sans Light"/>
              </a:rPr>
              <a:t>Seguimiento de rutas escolares a través del sistema </a:t>
            </a:r>
            <a:endParaRPr sz="1700">
              <a:latin typeface="Work Sans Light"/>
              <a:ea typeface="Work Sans Light"/>
              <a:cs typeface="Work Sans Light"/>
              <a:sym typeface="Work Sans Light"/>
            </a:endParaRPr>
          </a:p>
          <a:p>
            <a:pPr indent="0" lvl="0" marL="0" rtl="0" algn="l">
              <a:spcBef>
                <a:spcPts val="0"/>
              </a:spcBef>
              <a:spcAft>
                <a:spcPts val="0"/>
              </a:spcAft>
              <a:buNone/>
            </a:pPr>
            <a:r>
              <a:t/>
            </a:r>
            <a:endParaRPr sz="1700">
              <a:latin typeface="Work Sans Light"/>
              <a:ea typeface="Work Sans Light"/>
              <a:cs typeface="Work Sans Light"/>
              <a:sym typeface="Work Sans Light"/>
            </a:endParaRPr>
          </a:p>
          <a:p>
            <a:pPr indent="0" lvl="0" marL="457200" rtl="0" algn="l">
              <a:spcBef>
                <a:spcPts val="0"/>
              </a:spcBef>
              <a:spcAft>
                <a:spcPts val="0"/>
              </a:spcAft>
              <a:buNone/>
            </a:pPr>
            <a:r>
              <a:t/>
            </a:r>
            <a:endParaRPr sz="1700">
              <a:latin typeface="Work Sans Light"/>
              <a:ea typeface="Work Sans Light"/>
              <a:cs typeface="Work Sans Light"/>
              <a:sym typeface="Work Sans Light"/>
            </a:endParaRPr>
          </a:p>
        </p:txBody>
      </p:sp>
      <p:pic>
        <p:nvPicPr>
          <p:cNvPr id="178" name="Google Shape;178;g36618704700_1_1"/>
          <p:cNvPicPr preferRelativeResize="0"/>
          <p:nvPr/>
        </p:nvPicPr>
        <p:blipFill>
          <a:blip r:embed="rId4">
            <a:alphaModFix/>
          </a:blip>
          <a:stretch>
            <a:fillRect/>
          </a:stretch>
        </p:blipFill>
        <p:spPr>
          <a:xfrm>
            <a:off x="8327375" y="1816800"/>
            <a:ext cx="3334425" cy="4862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63bb039bc9_0_0"/>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u="sng">
                <a:solidFill>
                  <a:schemeClr val="lt1"/>
                </a:solidFill>
                <a:latin typeface="Work Sans Medium"/>
                <a:ea typeface="Work Sans Medium"/>
                <a:cs typeface="Work Sans Medium"/>
                <a:sym typeface="Work Sans Medium"/>
                <a:hlinkClick r:id="rId3">
                  <a:extLst>
                    <a:ext uri="{A12FA001-AC4F-418D-AE19-62706E023703}">
                      <ahyp:hlinkClr val="tx"/>
                    </a:ext>
                  </a:extLst>
                </a:hlinkClick>
              </a:rPr>
              <a:t>Delimitación</a:t>
            </a:r>
            <a:endParaRPr>
              <a:solidFill>
                <a:schemeClr val="lt1"/>
              </a:solidFill>
              <a:latin typeface="Work Sans Medium"/>
              <a:ea typeface="Work Sans Medium"/>
              <a:cs typeface="Work Sans Medium"/>
              <a:sym typeface="Work Sans Medium"/>
            </a:endParaRPr>
          </a:p>
        </p:txBody>
      </p:sp>
      <p:sp>
        <p:nvSpPr>
          <p:cNvPr id="184" name="Google Shape;184;g363bb039bc9_0_0"/>
          <p:cNvSpPr txBox="1"/>
          <p:nvPr/>
        </p:nvSpPr>
        <p:spPr>
          <a:xfrm>
            <a:off x="670451" y="2091750"/>
            <a:ext cx="62133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700" u="none" cap="none" strike="noStrike">
              <a:solidFill>
                <a:schemeClr val="dk1"/>
              </a:solidFill>
              <a:latin typeface="Work Sans Light"/>
              <a:ea typeface="Work Sans Light"/>
              <a:cs typeface="Work Sans Light"/>
              <a:sym typeface="Work Sans Light"/>
            </a:endParaRPr>
          </a:p>
        </p:txBody>
      </p:sp>
      <p:pic>
        <p:nvPicPr>
          <p:cNvPr id="185" name="Google Shape;185;g363bb039bc9_0_0"/>
          <p:cNvPicPr preferRelativeResize="0"/>
          <p:nvPr/>
        </p:nvPicPr>
        <p:blipFill rotWithShape="1">
          <a:blip r:embed="rId4">
            <a:alphaModFix/>
          </a:blip>
          <a:srcRect b="0" l="0" r="48564" t="0"/>
          <a:stretch/>
        </p:blipFill>
        <p:spPr>
          <a:xfrm>
            <a:off x="1454162" y="1789175"/>
            <a:ext cx="9283676" cy="4600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192" name="Google Shape;192;p9"/>
          <p:cNvSpPr txBox="1"/>
          <p:nvPr/>
        </p:nvSpPr>
        <p:spPr>
          <a:xfrm>
            <a:off x="8694348" y="508463"/>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MX" sz="1600" u="none" cap="none" strike="noStrike">
                <a:solidFill>
                  <a:schemeClr val="lt1"/>
                </a:solidFill>
                <a:latin typeface="Work Sans Light"/>
                <a:ea typeface="Work Sans Light"/>
                <a:cs typeface="Work Sans Light"/>
                <a:sym typeface="Work Sans Light"/>
              </a:rPr>
              <a:t>Logo Sistema</a:t>
            </a:r>
            <a:endParaRPr b="1" i="0" sz="1600" u="none" cap="none" strike="noStrike">
              <a:solidFill>
                <a:schemeClr val="lt1"/>
              </a:solidFill>
              <a:latin typeface="Work Sans Light"/>
              <a:ea typeface="Work Sans Light"/>
              <a:cs typeface="Work Sans Light"/>
              <a:sym typeface="Work Sans Light"/>
            </a:endParaRPr>
          </a:p>
        </p:txBody>
      </p:sp>
      <p:sp>
        <p:nvSpPr>
          <p:cNvPr id="193" name="Google Shape;193;p9"/>
          <p:cNvSpPr txBox="1"/>
          <p:nvPr/>
        </p:nvSpPr>
        <p:spPr>
          <a:xfrm>
            <a:off x="9775121" y="510142"/>
            <a:ext cx="1080000" cy="5400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MX" sz="1600" u="none" cap="none" strike="noStrike">
                <a:solidFill>
                  <a:schemeClr val="lt1"/>
                </a:solidFill>
                <a:latin typeface="Work Sans Light"/>
                <a:ea typeface="Work Sans Light"/>
                <a:cs typeface="Work Sans Light"/>
                <a:sym typeface="Work Sans Light"/>
              </a:rPr>
              <a:t>Logo Empresa</a:t>
            </a:r>
            <a:endParaRPr/>
          </a:p>
        </p:txBody>
      </p:sp>
      <p:sp>
        <p:nvSpPr>
          <p:cNvPr id="194" name="Google Shape;194;p9"/>
          <p:cNvSpPr txBox="1"/>
          <p:nvPr/>
        </p:nvSpPr>
        <p:spPr>
          <a:xfrm>
            <a:off x="939938" y="2257943"/>
            <a:ext cx="3854400" cy="18162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3"/>
              </a:rPr>
              <a:t>Definición del Proyecto</a:t>
            </a:r>
            <a:endParaRPr>
              <a:latin typeface="Work Sans Light"/>
              <a:ea typeface="Work Sans Light"/>
              <a:cs typeface="Work Sans Light"/>
              <a:sym typeface="Work Sans Light"/>
            </a:endParaRPr>
          </a:p>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4"/>
              </a:rPr>
              <a:t>Mapa de Procesos</a:t>
            </a:r>
            <a:endParaRPr>
              <a:latin typeface="Work Sans Light"/>
              <a:ea typeface="Work Sans Light"/>
              <a:cs typeface="Work Sans Light"/>
              <a:sym typeface="Work Sans Light"/>
            </a:endParaRPr>
          </a:p>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5"/>
              </a:rPr>
              <a:t>Levantamiento de Información</a:t>
            </a:r>
            <a:endParaRPr>
              <a:latin typeface="Work Sans Light"/>
              <a:ea typeface="Work Sans Light"/>
              <a:cs typeface="Work Sans Light"/>
              <a:sym typeface="Work Sans Light"/>
            </a:endParaRPr>
          </a:p>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6"/>
              </a:rPr>
              <a:t>Norma IEEE830</a:t>
            </a:r>
            <a:endParaRPr>
              <a:latin typeface="Work Sans Light"/>
              <a:ea typeface="Work Sans Light"/>
              <a:cs typeface="Work Sans Light"/>
              <a:sym typeface="Work Sans Light"/>
            </a:endParaRPr>
          </a:p>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7"/>
              </a:rPr>
              <a:t>Diagrama de Casos de Uso</a:t>
            </a:r>
            <a:endParaRPr>
              <a:latin typeface="Work Sans Light"/>
              <a:ea typeface="Work Sans Light"/>
              <a:cs typeface="Work Sans Light"/>
              <a:sym typeface="Work Sans Light"/>
            </a:endParaRPr>
          </a:p>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8"/>
              </a:rPr>
              <a:t>Mockups</a:t>
            </a:r>
            <a:endParaRPr>
              <a:latin typeface="Work Sans Light"/>
              <a:ea typeface="Work Sans Light"/>
              <a:cs typeface="Work Sans Light"/>
              <a:sym typeface="Work Sans Light"/>
            </a:endParaRPr>
          </a:p>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9"/>
              </a:rPr>
              <a:t>Costos y Fichas Técnicas</a:t>
            </a:r>
            <a:endParaRPr>
              <a:latin typeface="Work Sans Light"/>
              <a:ea typeface="Work Sans Light"/>
              <a:cs typeface="Work Sans Light"/>
              <a:sym typeface="Work Sans Light"/>
            </a:endParaRPr>
          </a:p>
          <a:p>
            <a:pPr indent="-317500" lvl="0" marL="457200" rtl="0" algn="l">
              <a:lnSpc>
                <a:spcPct val="100000"/>
              </a:lnSpc>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0"/>
              </a:rPr>
              <a:t>Control de Versiones</a:t>
            </a:r>
            <a:endParaRPr>
              <a:latin typeface="Work Sans Light"/>
              <a:ea typeface="Work Sans Light"/>
              <a:cs typeface="Work Sans Light"/>
              <a:sym typeface="Work Sans Light"/>
            </a:endParaRPr>
          </a:p>
        </p:txBody>
      </p:sp>
      <p:grpSp>
        <p:nvGrpSpPr>
          <p:cNvPr id="195" name="Google Shape;195;p9"/>
          <p:cNvGrpSpPr/>
          <p:nvPr/>
        </p:nvGrpSpPr>
        <p:grpSpPr>
          <a:xfrm>
            <a:off x="939942" y="1851453"/>
            <a:ext cx="3239167" cy="347863"/>
            <a:chOff x="668953" y="1494678"/>
            <a:chExt cx="3239167" cy="347863"/>
          </a:xfrm>
        </p:grpSpPr>
        <p:sp>
          <p:nvSpPr>
            <p:cNvPr id="196" name="Google Shape;196;p9"/>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7" name="Google Shape;197;p9"/>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s-MX" sz="1800">
                  <a:solidFill>
                    <a:srgbClr val="38AA00"/>
                  </a:solidFill>
                  <a:latin typeface="Work Sans Light"/>
                  <a:ea typeface="Work Sans Light"/>
                  <a:cs typeface="Work Sans Light"/>
                  <a:sym typeface="Work Sans Light"/>
                </a:rPr>
                <a:t>Segundo </a:t>
              </a:r>
              <a:r>
                <a:rPr b="1" i="0" lang="es-MX" sz="1800" u="none" cap="none" strike="noStrike">
                  <a:solidFill>
                    <a:srgbClr val="38AA00"/>
                  </a:solidFill>
                  <a:latin typeface="Work Sans Light"/>
                  <a:ea typeface="Work Sans Light"/>
                  <a:cs typeface="Work Sans Light"/>
                  <a:sym typeface="Work Sans Light"/>
                </a:rPr>
                <a:t>Trimestre</a:t>
              </a:r>
              <a:endParaRPr/>
            </a:p>
          </p:txBody>
        </p:sp>
      </p:grpSp>
      <p:sp>
        <p:nvSpPr>
          <p:cNvPr id="198" name="Google Shape;198;p9"/>
          <p:cNvSpPr txBox="1"/>
          <p:nvPr/>
        </p:nvSpPr>
        <p:spPr>
          <a:xfrm>
            <a:off x="939938" y="4635848"/>
            <a:ext cx="3854400" cy="16008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1"/>
              </a:rPr>
              <a:t>Modelo Relacional</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2"/>
              </a:rPr>
              <a:t>Normalización</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3"/>
              </a:rPr>
              <a:t>Diccionario de Datos</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4"/>
              </a:rPr>
              <a:t>Diagrama de Clases</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5"/>
              </a:rPr>
              <a:t>Distribución del Sistema</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6"/>
              </a:rPr>
              <a:t>Prototipo Navegable</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17"/>
              </a:rPr>
              <a:t>Control de Versiones</a:t>
            </a:r>
            <a:endParaRPr>
              <a:latin typeface="Work Sans Light"/>
              <a:ea typeface="Work Sans Light"/>
              <a:cs typeface="Work Sans Light"/>
              <a:sym typeface="Work Sans Light"/>
            </a:endParaRPr>
          </a:p>
        </p:txBody>
      </p:sp>
      <p:grpSp>
        <p:nvGrpSpPr>
          <p:cNvPr id="199" name="Google Shape;199;p9"/>
          <p:cNvGrpSpPr/>
          <p:nvPr/>
        </p:nvGrpSpPr>
        <p:grpSpPr>
          <a:xfrm>
            <a:off x="939947" y="4089432"/>
            <a:ext cx="3239167" cy="347863"/>
            <a:chOff x="668953" y="1494678"/>
            <a:chExt cx="3239167" cy="347863"/>
          </a:xfrm>
        </p:grpSpPr>
        <p:sp>
          <p:nvSpPr>
            <p:cNvPr id="200" name="Google Shape;200;p9"/>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1" name="Google Shape;201;p9"/>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s-MX" sz="1800">
                  <a:solidFill>
                    <a:srgbClr val="38AA00"/>
                  </a:solidFill>
                  <a:latin typeface="Work Sans Light"/>
                  <a:ea typeface="Work Sans Light"/>
                  <a:cs typeface="Work Sans Light"/>
                  <a:sym typeface="Work Sans Light"/>
                </a:rPr>
                <a:t>Tercer </a:t>
              </a:r>
              <a:r>
                <a:rPr b="1" i="0" lang="es-MX" sz="1800" u="none" cap="none" strike="noStrike">
                  <a:solidFill>
                    <a:srgbClr val="38AA00"/>
                  </a:solidFill>
                  <a:latin typeface="Work Sans Light"/>
                  <a:ea typeface="Work Sans Light"/>
                  <a:cs typeface="Work Sans Light"/>
                  <a:sym typeface="Work Sans Light"/>
                </a:rPr>
                <a:t>Trimestre</a:t>
              </a:r>
              <a:endParaRPr/>
            </a:p>
          </p:txBody>
        </p:sp>
      </p:grpSp>
      <p:grpSp>
        <p:nvGrpSpPr>
          <p:cNvPr id="202" name="Google Shape;202;p9"/>
          <p:cNvGrpSpPr/>
          <p:nvPr/>
        </p:nvGrpSpPr>
        <p:grpSpPr>
          <a:xfrm>
            <a:off x="4794345" y="2532200"/>
            <a:ext cx="3239167" cy="347863"/>
            <a:chOff x="668953" y="1494678"/>
            <a:chExt cx="3239167" cy="347863"/>
          </a:xfrm>
        </p:grpSpPr>
        <p:sp>
          <p:nvSpPr>
            <p:cNvPr id="203" name="Google Shape;203;p9"/>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 name="Google Shape;204;p9"/>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s-MX" sz="1800">
                  <a:solidFill>
                    <a:srgbClr val="38AA00"/>
                  </a:solidFill>
                  <a:latin typeface="Work Sans Light"/>
                  <a:ea typeface="Work Sans Light"/>
                  <a:cs typeface="Work Sans Light"/>
                  <a:sym typeface="Work Sans Light"/>
                </a:rPr>
                <a:t>Cuarto </a:t>
              </a:r>
              <a:r>
                <a:rPr b="1" i="0" lang="es-MX" sz="1800" u="none" cap="none" strike="noStrike">
                  <a:solidFill>
                    <a:srgbClr val="38AA00"/>
                  </a:solidFill>
                  <a:latin typeface="Work Sans Light"/>
                  <a:ea typeface="Work Sans Light"/>
                  <a:cs typeface="Work Sans Light"/>
                  <a:sym typeface="Work Sans Light"/>
                </a:rPr>
                <a:t>Trimestre</a:t>
              </a:r>
              <a:endParaRPr/>
            </a:p>
          </p:txBody>
        </p:sp>
      </p:grpSp>
      <p:sp>
        <p:nvSpPr>
          <p:cNvPr id="205" name="Google Shape;205;p9"/>
          <p:cNvSpPr txBox="1"/>
          <p:nvPr/>
        </p:nvSpPr>
        <p:spPr>
          <a:xfrm>
            <a:off x="5029858" y="2973131"/>
            <a:ext cx="3854400" cy="1169700"/>
          </a:xfrm>
          <a:prstGeom prst="rect">
            <a:avLst/>
          </a:prstGeom>
          <a:noFill/>
          <a:ln>
            <a:noFill/>
          </a:ln>
        </p:spPr>
        <p:txBody>
          <a:bodyPr anchorCtr="0" anchor="t" bIns="45700" lIns="91425" spcFirstLastPara="1" rIns="91425" wrap="square" tIns="45700">
            <a:spAutoFit/>
          </a:bodyPr>
          <a:lstStyle/>
          <a:p>
            <a:pPr indent="-298450" lvl="0" marL="457200" rtl="0" algn="l">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18"/>
              </a:rPr>
              <a:t>Base de Datos DDL</a:t>
            </a:r>
            <a:endParaRPr>
              <a:latin typeface="Work Sans Light"/>
              <a:ea typeface="Work Sans Light"/>
              <a:cs typeface="Work Sans Light"/>
              <a:sym typeface="Work Sans Light"/>
            </a:endParaRPr>
          </a:p>
          <a:p>
            <a:pPr indent="-298450" lvl="0" marL="457200" rtl="0" algn="l">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19"/>
              </a:rPr>
              <a:t>Base de Datos DML</a:t>
            </a:r>
            <a:endParaRPr>
              <a:latin typeface="Work Sans Light"/>
              <a:ea typeface="Work Sans Light"/>
              <a:cs typeface="Work Sans Light"/>
              <a:sym typeface="Work Sans Light"/>
            </a:endParaRPr>
          </a:p>
          <a:p>
            <a:pPr indent="-298450" lvl="0" marL="457200" rtl="0" algn="l">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20"/>
              </a:rPr>
              <a:t>Seguridad de Datos</a:t>
            </a:r>
            <a:endParaRPr>
              <a:latin typeface="Work Sans Light"/>
              <a:ea typeface="Work Sans Light"/>
              <a:cs typeface="Work Sans Light"/>
              <a:sym typeface="Work Sans Light"/>
            </a:endParaRPr>
          </a:p>
          <a:p>
            <a:pPr indent="-298450" lvl="0" marL="457200" rtl="0" algn="l">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21"/>
              </a:rPr>
              <a:t>Frontend Funcional</a:t>
            </a:r>
            <a:endParaRPr>
              <a:latin typeface="Work Sans Light"/>
              <a:ea typeface="Work Sans Light"/>
              <a:cs typeface="Work Sans Light"/>
              <a:sym typeface="Work Sans Light"/>
            </a:endParaRPr>
          </a:p>
          <a:p>
            <a:pPr indent="-298450" lvl="0" marL="457200" rtl="0" algn="l">
              <a:spcBef>
                <a:spcPts val="0"/>
              </a:spcBef>
              <a:spcAft>
                <a:spcPts val="0"/>
              </a:spcAft>
              <a:buSzPts val="1100"/>
              <a:buFont typeface="Work Sans Light"/>
              <a:buChar char="●"/>
            </a:pPr>
            <a:r>
              <a:rPr lang="es-MX" u="sng">
                <a:solidFill>
                  <a:schemeClr val="hlink"/>
                </a:solidFill>
                <a:latin typeface="Work Sans Light"/>
                <a:ea typeface="Work Sans Light"/>
                <a:cs typeface="Work Sans Light"/>
                <a:sym typeface="Work Sans Light"/>
                <a:hlinkClick r:id="rId22"/>
              </a:rPr>
              <a:t>Control de Versiones</a:t>
            </a:r>
            <a:endParaRPr>
              <a:latin typeface="Work Sans Light"/>
              <a:ea typeface="Work Sans Light"/>
              <a:cs typeface="Work Sans Light"/>
              <a:sym typeface="Work Sans Light"/>
            </a:endParaRPr>
          </a:p>
        </p:txBody>
      </p:sp>
      <p:grpSp>
        <p:nvGrpSpPr>
          <p:cNvPr id="206" name="Google Shape;206;p9"/>
          <p:cNvGrpSpPr/>
          <p:nvPr/>
        </p:nvGrpSpPr>
        <p:grpSpPr>
          <a:xfrm>
            <a:off x="4915605" y="4461569"/>
            <a:ext cx="3239167" cy="347863"/>
            <a:chOff x="668953" y="1494678"/>
            <a:chExt cx="3239167" cy="347863"/>
          </a:xfrm>
        </p:grpSpPr>
        <p:sp>
          <p:nvSpPr>
            <p:cNvPr id="207" name="Google Shape;207;p9"/>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 name="Google Shape;208;p9"/>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s-MX" sz="1800">
                  <a:solidFill>
                    <a:srgbClr val="38AA00"/>
                  </a:solidFill>
                  <a:latin typeface="Work Sans Light"/>
                  <a:ea typeface="Work Sans Light"/>
                  <a:cs typeface="Work Sans Light"/>
                  <a:sym typeface="Work Sans Light"/>
                </a:rPr>
                <a:t>Quinto </a:t>
              </a:r>
              <a:r>
                <a:rPr b="1" i="0" lang="es-MX" sz="1800" u="none" cap="none" strike="noStrike">
                  <a:solidFill>
                    <a:srgbClr val="38AA00"/>
                  </a:solidFill>
                  <a:latin typeface="Work Sans Light"/>
                  <a:ea typeface="Work Sans Light"/>
                  <a:cs typeface="Work Sans Light"/>
                  <a:sym typeface="Work Sans Light"/>
                </a:rPr>
                <a:t>Tr</a:t>
              </a:r>
              <a:r>
                <a:rPr b="1" i="0" lang="es-MX" sz="1800" u="none" cap="none" strike="noStrike">
                  <a:solidFill>
                    <a:srgbClr val="38AA00"/>
                  </a:solidFill>
                  <a:latin typeface="Work Sans Light"/>
                  <a:ea typeface="Work Sans Light"/>
                  <a:cs typeface="Work Sans Light"/>
                  <a:sym typeface="Work Sans Light"/>
                </a:rPr>
                <a:t>i</a:t>
              </a:r>
              <a:r>
                <a:rPr b="1" i="0" lang="es-MX" sz="1800" u="none" cap="none" strike="noStrike">
                  <a:solidFill>
                    <a:srgbClr val="38AA00"/>
                  </a:solidFill>
                  <a:latin typeface="Work Sans Light"/>
                  <a:ea typeface="Work Sans Light"/>
                  <a:cs typeface="Work Sans Light"/>
                  <a:sym typeface="Work Sans Light"/>
                </a:rPr>
                <a:t>mestre</a:t>
              </a:r>
              <a:endParaRPr/>
            </a:p>
          </p:txBody>
        </p:sp>
      </p:grpSp>
      <p:sp>
        <p:nvSpPr>
          <p:cNvPr id="209" name="Google Shape;209;p9"/>
          <p:cNvSpPr txBox="1"/>
          <p:nvPr/>
        </p:nvSpPr>
        <p:spPr>
          <a:xfrm>
            <a:off x="5144108" y="4959089"/>
            <a:ext cx="3854400" cy="7389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SzPts val="1400"/>
              <a:buChar char="•"/>
            </a:pPr>
            <a:r>
              <a:rPr lang="es-MX">
                <a:latin typeface="Work Sans Light"/>
                <a:ea typeface="Work Sans Light"/>
                <a:cs typeface="Work Sans Light"/>
                <a:sym typeface="Work Sans Light"/>
              </a:rPr>
              <a:t>API REST Segura</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a:latin typeface="Work Sans Light"/>
                <a:ea typeface="Work Sans Light"/>
                <a:cs typeface="Work Sans Light"/>
                <a:sym typeface="Work Sans Light"/>
              </a:rPr>
              <a:t>Consumo de API</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u="sng">
                <a:solidFill>
                  <a:schemeClr val="hlink"/>
                </a:solidFill>
                <a:latin typeface="Work Sans Light"/>
                <a:ea typeface="Work Sans Light"/>
                <a:cs typeface="Work Sans Light"/>
                <a:sym typeface="Work Sans Light"/>
                <a:hlinkClick r:id="rId23"/>
              </a:rPr>
              <a:t>Control de Versiones</a:t>
            </a:r>
            <a:endParaRPr>
              <a:latin typeface="Work Sans Light"/>
              <a:ea typeface="Work Sans Light"/>
              <a:cs typeface="Work Sans Light"/>
              <a:sym typeface="Work Sans Light"/>
            </a:endParaRPr>
          </a:p>
        </p:txBody>
      </p:sp>
      <p:grpSp>
        <p:nvGrpSpPr>
          <p:cNvPr id="210" name="Google Shape;210;p9"/>
          <p:cNvGrpSpPr/>
          <p:nvPr/>
        </p:nvGrpSpPr>
        <p:grpSpPr>
          <a:xfrm>
            <a:off x="8407066" y="3645302"/>
            <a:ext cx="3239167" cy="347863"/>
            <a:chOff x="668953" y="1494678"/>
            <a:chExt cx="3239167" cy="347863"/>
          </a:xfrm>
        </p:grpSpPr>
        <p:sp>
          <p:nvSpPr>
            <p:cNvPr id="211" name="Google Shape;211;p9"/>
            <p:cNvSpPr/>
            <p:nvPr/>
          </p:nvSpPr>
          <p:spPr>
            <a:xfrm>
              <a:off x="781688" y="1796822"/>
              <a:ext cx="971956" cy="4571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2" name="Google Shape;212;p9"/>
            <p:cNvSpPr txBox="1"/>
            <p:nvPr/>
          </p:nvSpPr>
          <p:spPr>
            <a:xfrm>
              <a:off x="668953" y="1494678"/>
              <a:ext cx="3239167" cy="2945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lang="es-MX" sz="1800">
                  <a:solidFill>
                    <a:srgbClr val="38AA00"/>
                  </a:solidFill>
                  <a:latin typeface="Work Sans Light"/>
                  <a:ea typeface="Work Sans Light"/>
                  <a:cs typeface="Work Sans Light"/>
                  <a:sym typeface="Work Sans Light"/>
                </a:rPr>
                <a:t>Sexto </a:t>
              </a:r>
              <a:r>
                <a:rPr b="1" i="0" lang="es-MX" sz="1800" u="none" cap="none" strike="noStrike">
                  <a:solidFill>
                    <a:srgbClr val="38AA00"/>
                  </a:solidFill>
                  <a:latin typeface="Work Sans Light"/>
                  <a:ea typeface="Work Sans Light"/>
                  <a:cs typeface="Work Sans Light"/>
                  <a:sym typeface="Work Sans Light"/>
                </a:rPr>
                <a:t>Trimestre</a:t>
              </a:r>
              <a:endParaRPr/>
            </a:p>
          </p:txBody>
        </p:sp>
      </p:grpSp>
      <p:sp>
        <p:nvSpPr>
          <p:cNvPr id="213" name="Google Shape;213;p9"/>
          <p:cNvSpPr txBox="1"/>
          <p:nvPr/>
        </p:nvSpPr>
        <p:spPr>
          <a:xfrm>
            <a:off x="8635569" y="4142823"/>
            <a:ext cx="2750100" cy="11697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SzPts val="1400"/>
              <a:buChar char="•"/>
            </a:pPr>
            <a:r>
              <a:rPr lang="es-MX">
                <a:latin typeface="Work Sans Light"/>
                <a:ea typeface="Work Sans Light"/>
                <a:cs typeface="Work Sans Light"/>
                <a:sym typeface="Work Sans Light"/>
              </a:rPr>
              <a:t>Codificación Completa</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a:latin typeface="Work Sans Light"/>
                <a:ea typeface="Work Sans Light"/>
                <a:cs typeface="Work Sans Light"/>
                <a:sym typeface="Work Sans Light"/>
              </a:rPr>
              <a:t>Consumo de API Móvil</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a:latin typeface="Work Sans Light"/>
                <a:ea typeface="Work Sans Light"/>
                <a:cs typeface="Work Sans Light"/>
                <a:sym typeface="Work Sans Light"/>
              </a:rPr>
              <a:t>API REST Documentada</a:t>
            </a:r>
            <a:endParaRPr>
              <a:latin typeface="Work Sans Light"/>
              <a:ea typeface="Work Sans Light"/>
              <a:cs typeface="Work Sans Light"/>
              <a:sym typeface="Work Sans Light"/>
            </a:endParaRPr>
          </a:p>
          <a:p>
            <a:pPr indent="-317500" lvl="0" marL="457200" rtl="0" algn="l">
              <a:spcBef>
                <a:spcPts val="0"/>
              </a:spcBef>
              <a:spcAft>
                <a:spcPts val="0"/>
              </a:spcAft>
              <a:buSzPts val="1400"/>
              <a:buChar char="•"/>
            </a:pPr>
            <a:r>
              <a:rPr lang="es-MX">
                <a:latin typeface="Work Sans Light"/>
                <a:ea typeface="Work Sans Light"/>
                <a:cs typeface="Work Sans Light"/>
                <a:sym typeface="Work Sans Light"/>
              </a:rPr>
              <a:t>Metodología Ágil</a:t>
            </a:r>
            <a:endParaRPr>
              <a:latin typeface="Work Sans Light"/>
              <a:ea typeface="Work Sans Light"/>
              <a:cs typeface="Work Sans Light"/>
              <a:sym typeface="Work Sans Light"/>
            </a:endParaRPr>
          </a:p>
          <a:p>
            <a:pPr indent="0" lvl="0" marL="0" marR="0" rtl="0" algn="l">
              <a:lnSpc>
                <a:spcPct val="100000"/>
              </a:lnSpc>
              <a:spcBef>
                <a:spcPts val="0"/>
              </a:spcBef>
              <a:spcAft>
                <a:spcPts val="0"/>
              </a:spcAft>
              <a:buNone/>
            </a:pPr>
            <a:r>
              <a:t/>
            </a:r>
            <a:endParaRPr>
              <a:latin typeface="Work Sans Light"/>
              <a:ea typeface="Work Sans Light"/>
              <a:cs typeface="Work Sans Light"/>
              <a:sym typeface="Work Sans Light"/>
            </a:endParaRPr>
          </a:p>
        </p:txBody>
      </p:sp>
      <p:pic>
        <p:nvPicPr>
          <p:cNvPr id="214" name="Google Shape;214;p9"/>
          <p:cNvPicPr preferRelativeResize="0"/>
          <p:nvPr/>
        </p:nvPicPr>
        <p:blipFill>
          <a:blip r:embed="rId24">
            <a:alphaModFix/>
          </a:blip>
          <a:stretch>
            <a:fillRect/>
          </a:stretch>
        </p:blipFill>
        <p:spPr>
          <a:xfrm>
            <a:off x="9837941" y="110475"/>
            <a:ext cx="1011109" cy="1218199"/>
          </a:xfrm>
          <a:prstGeom prst="rect">
            <a:avLst/>
          </a:prstGeom>
          <a:noFill/>
          <a:ln>
            <a:noFill/>
          </a:ln>
        </p:spPr>
      </p:pic>
      <p:pic>
        <p:nvPicPr>
          <p:cNvPr id="215" name="Google Shape;215;p9"/>
          <p:cNvPicPr preferRelativeResize="0"/>
          <p:nvPr/>
        </p:nvPicPr>
        <p:blipFill>
          <a:blip r:embed="rId25">
            <a:alphaModFix/>
          </a:blip>
          <a:stretch>
            <a:fillRect/>
          </a:stretch>
        </p:blipFill>
        <p:spPr>
          <a:xfrm>
            <a:off x="8578849" y="110475"/>
            <a:ext cx="1218199" cy="1218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Imagen que contiene Interfaz de usuario gráfica&#10;&#10;Descripción generada automáticamente" id="220" name="Google Shape;22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